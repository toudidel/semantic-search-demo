
<file path=[Content_Types].xml><?xml version="1.0" encoding="utf-8"?>
<Types xmlns="http://schemas.openxmlformats.org/package/2006/content-types"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3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Topic: semantic search in Java with PostgreSQL and pgvector.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8A6E-8E80-823D-4F57-24F32018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C540B-80C2-067A-6942-E27492761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CAEB8-7727-5AE9-5177-0354A494B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09CE2-3CB5-E4F6-C665-7EC181A34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19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8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/ SEMANTIC SEARCH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698480" y="6501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50915" y="932689"/>
            <a:ext cx="5303520" cy="5303520"/>
          </a:xfrm>
          <a:prstGeom prst="arc">
            <a:avLst/>
          </a:prstGeom>
          <a:noFill/>
          <a:ln w="25400">
            <a:solidFill>
              <a:srgbClr val="15608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05472" y="1601402"/>
            <a:ext cx="3840480" cy="3840480"/>
          </a:xfrm>
          <a:prstGeom prst="arc">
            <a:avLst/>
          </a:prstGeom>
          <a:noFill/>
          <a:ln w="16510">
            <a:solidFill>
              <a:srgbClr val="0F9ED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640080"/>
            <a:ext cx="91440" cy="10972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4389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C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207526"/>
            <a:ext cx="6583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in Java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4056" y="2198064"/>
            <a:ext cx="7040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C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pgvector without a separate vector database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5989320"/>
            <a:ext cx="5303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pl-PL" dirty="0">
                <a:solidFill>
                  <a:srgbClr val="AFC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Krzysztof Kozłowski</a:t>
            </a:r>
            <a:endParaRPr lang="en-US" dirty="0"/>
          </a:p>
        </p:txBody>
      </p:sp>
      <p:pic>
        <p:nvPicPr>
          <p:cNvPr id="11" name="Obraz 10" descr="File:Reply Logo.svg - Wikimedia Commons">
            <a:extLst>
              <a:ext uri="{FF2B5EF4-FFF2-40B4-BE49-F238E27FC236}">
                <a16:creationId xmlns:a16="http://schemas.microsoft.com/office/drawing/2014/main" id="{0915D1F2-DF35-6F60-AC93-567C3A574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5020740"/>
            <a:ext cx="4390844" cy="1169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POINT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question we are answering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5039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you find a document when the user uses different words than the author?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399" y="2761488"/>
            <a:ext cx="473995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application has too few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connections”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content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761488"/>
            <a:ext cx="4389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“HikariCP configuration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pool exhaustion”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952744" y="3429000"/>
            <a:ext cx="402336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76672" y="3548045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 should recognize that these two texts describe the same problem.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SIGNALS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Keyword search vs semantic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Keywords find matches. Embeddings find similarity in meaning.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224028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Keyword search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Semantic search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ILIKE / FTS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vector + distance metric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“HikariCP” must appear in the text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 links “connection pool” to HikariCP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great for names, codes, and phrases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for questions and paraphrases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1783080"/>
            <a:ext cx="5440680" cy="4572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80760" y="1783080"/>
            <a:ext cx="5440680" cy="4572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them together when both </a:t>
            </a:r>
            <a:r>
              <a:rPr lang="en-US" sz="2200" b="1" dirty="0" err="1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b="1" dirty="0" err="1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meaning matter.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REPRESENTING MEANING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18686"/>
            <a:ext cx="8046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turns text into a point in numerical space.</a:t>
            </a:r>
            <a:endParaRPr lang="en-US" sz="2000" dirty="0"/>
          </a:p>
        </p:txBody>
      </p:sp>
      <p:grpSp>
        <p:nvGrpSpPr>
          <p:cNvPr id="30" name="Grupa 29">
            <a:extLst>
              <a:ext uri="{FF2B5EF4-FFF2-40B4-BE49-F238E27FC236}">
                <a16:creationId xmlns:a16="http://schemas.microsoft.com/office/drawing/2014/main" id="{A291708E-5AA6-FAA4-50F2-F341CD1115A1}"/>
              </a:ext>
            </a:extLst>
          </p:cNvPr>
          <p:cNvGrpSpPr/>
          <p:nvPr/>
        </p:nvGrpSpPr>
        <p:grpSpPr>
          <a:xfrm>
            <a:off x="609600" y="1974112"/>
            <a:ext cx="10972799" cy="1572925"/>
            <a:chOff x="731520" y="1664208"/>
            <a:chExt cx="9601200" cy="987552"/>
          </a:xfrm>
        </p:grpSpPr>
        <p:sp>
          <p:nvSpPr>
            <p:cNvPr id="5" name="Shape 3"/>
            <p:cNvSpPr/>
            <p:nvPr/>
          </p:nvSpPr>
          <p:spPr>
            <a:xfrm>
              <a:off x="731520" y="1828800"/>
              <a:ext cx="2880360" cy="658368"/>
            </a:xfrm>
            <a:prstGeom prst="roundRect">
              <a:avLst>
                <a:gd name="adj" fmla="val 16667"/>
              </a:avLst>
            </a:prstGeom>
            <a:solidFill>
              <a:srgbClr val="E8F1F7"/>
            </a:solidFill>
            <a:ln w="12700">
              <a:solidFill>
                <a:srgbClr val="15608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828800"/>
              <a:ext cx="73152" cy="658368"/>
            </a:xfrm>
            <a:prstGeom prst="rect">
              <a:avLst/>
            </a:prstGeom>
            <a:solidFill>
              <a:srgbClr val="156082"/>
            </a:solidFill>
            <a:ln w="12700">
              <a:solidFill>
                <a:srgbClr val="15608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96112" y="1874520"/>
              <a:ext cx="2670048" cy="56692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„</a:t>
              </a:r>
              <a:r>
                <a:rPr lang="en-US" sz="1400" b="1" dirty="0" err="1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HikariCP</a:t>
              </a: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pl-PL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and the JDBC connection pool</a:t>
              </a: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”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840480" y="2148840"/>
              <a:ext cx="502920" cy="0"/>
            </a:xfrm>
            <a:prstGeom prst="line">
              <a:avLst/>
            </a:prstGeom>
            <a:noFill/>
            <a:ln w="27940">
              <a:solidFill>
                <a:srgbClr val="E9713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480560" y="1664208"/>
              <a:ext cx="1920240" cy="987552"/>
            </a:xfrm>
            <a:prstGeom prst="roundRect">
              <a:avLst>
                <a:gd name="adj" fmla="val 11111"/>
              </a:avLst>
            </a:prstGeom>
            <a:solidFill>
              <a:srgbClr val="FFF1E8"/>
            </a:solidFill>
            <a:ln w="12700">
              <a:solidFill>
                <a:srgbClr val="E971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480560" y="1664208"/>
              <a:ext cx="73152" cy="987552"/>
            </a:xfrm>
            <a:prstGeom prst="rect">
              <a:avLst/>
            </a:prstGeom>
            <a:solidFill>
              <a:srgbClr val="E97132"/>
            </a:solidFill>
            <a:ln w="12700">
              <a:solidFill>
                <a:srgbClr val="E971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645152" y="1709928"/>
              <a:ext cx="1682496" cy="89611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model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embedding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537960" y="2148840"/>
              <a:ext cx="685800" cy="0"/>
            </a:xfrm>
            <a:prstGeom prst="line">
              <a:avLst/>
            </a:prstGeom>
            <a:noFill/>
            <a:ln w="27940">
              <a:solidFill>
                <a:srgbClr val="E9713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7360920" y="1664208"/>
              <a:ext cx="2971800" cy="987552"/>
            </a:xfrm>
            <a:prstGeom prst="roundRect">
              <a:avLst>
                <a:gd name="adj" fmla="val 7407"/>
              </a:avLst>
            </a:prstGeom>
            <a:solidFill>
              <a:srgbClr val="0E2841"/>
            </a:solidFill>
            <a:ln w="12700">
              <a:solidFill>
                <a:srgbClr val="0E28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7507224" y="1773936"/>
              <a:ext cx="269748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[0.021, -0.143,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0.761, …, 0.118]</a:t>
              </a:r>
              <a:endParaRPr lang="en-US" sz="1300" dirty="0"/>
            </a:p>
          </p:txBody>
        </p:sp>
      </p:grp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2" name="Dymek mowy: prostokąt z zaokrąglonymi rogami 31">
            <a:extLst>
              <a:ext uri="{FF2B5EF4-FFF2-40B4-BE49-F238E27FC236}">
                <a16:creationId xmlns:a16="http://schemas.microsoft.com/office/drawing/2014/main" id="{FC3721EA-207D-405A-49D4-8920D96AFDE3}"/>
              </a:ext>
            </a:extLst>
          </p:cNvPr>
          <p:cNvSpPr/>
          <p:nvPr/>
        </p:nvSpPr>
        <p:spPr>
          <a:xfrm>
            <a:off x="1184988" y="4447903"/>
            <a:ext cx="9283959" cy="2090057"/>
          </a:xfrm>
          <a:prstGeom prst="wedgeRoundRectCallout">
            <a:avLst>
              <a:gd name="adj1" fmla="val -1938"/>
              <a:gd name="adj2" fmla="val -7410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l-PL" sz="1600" b="1" dirty="0"/>
          </a:p>
          <a:p>
            <a:r>
              <a:rPr lang="en-US" sz="1600" b="1" dirty="0"/>
              <a:t>An embedding</a:t>
            </a:r>
            <a:r>
              <a:rPr lang="en-US" sz="1600" dirty="0"/>
              <a:t> is </a:t>
            </a:r>
            <a:r>
              <a:rPr lang="en-US" sz="1600" dirty="0" err="1"/>
              <a:t>numerical</a:t>
            </a:r>
            <a:r>
              <a:rPr lang="en-US" sz="1600" dirty="0"/>
              <a:t> </a:t>
            </a:r>
            <a:r>
              <a:rPr lang="en-US" sz="1600" dirty="0" err="1"/>
              <a:t>representation</a:t>
            </a:r>
            <a:r>
              <a:rPr lang="en-US" sz="1600" dirty="0"/>
              <a:t> </a:t>
            </a:r>
            <a:r>
              <a:rPr lang="en-US" sz="1600" dirty="0" err="1"/>
              <a:t>meaning</a:t>
            </a:r>
            <a:r>
              <a:rPr lang="en-US" sz="1600" dirty="0"/>
              <a:t> </a:t>
            </a:r>
            <a:r>
              <a:rPr lang="en-US" sz="1600" dirty="0" err="1"/>
              <a:t>data</a:t>
            </a:r>
            <a:r>
              <a:rPr lang="en-US" sz="1600" dirty="0"/>
              <a:t> — for example, </a:t>
            </a:r>
            <a:r>
              <a:rPr lang="en-US" sz="1600" dirty="0" err="1"/>
              <a:t>text</a:t>
            </a:r>
            <a:r>
              <a:rPr lang="en-US" sz="1600" dirty="0"/>
              <a:t>, </a:t>
            </a:r>
            <a:r>
              <a:rPr lang="en-US" sz="1600" dirty="0" err="1"/>
              <a:t>an image</a:t>
            </a:r>
            <a:r>
              <a:rPr lang="en-US" sz="1600" dirty="0"/>
              <a:t> </a:t>
            </a:r>
            <a:r>
              <a:rPr lang="en-US" sz="1600" dirty="0" err="1"/>
              <a:t>or</a:t>
            </a:r>
            <a:r>
              <a:rPr lang="en-US" sz="1600" dirty="0"/>
              <a:t> </a:t>
            </a:r>
            <a:r>
              <a:rPr lang="en-US" sz="1600" dirty="0" err="1"/>
              <a:t>audio</a:t>
            </a:r>
            <a:r>
              <a:rPr lang="en-US" sz="1600" dirty="0"/>
              <a:t> —</a:t>
            </a:r>
            <a:endParaRPr lang="pl-PL" sz="1600" dirty="0"/>
          </a:p>
          <a:p>
            <a:r>
              <a:rPr lang="en-US" sz="1600" dirty="0"/>
              <a:t>in </a:t>
            </a:r>
            <a:r>
              <a:rPr lang="en-US" sz="1600" dirty="0" err="1"/>
              <a:t>the form</a:t>
            </a:r>
            <a:r>
              <a:rPr lang="en-US" sz="1600" dirty="0"/>
              <a:t> </a:t>
            </a:r>
            <a:r>
              <a:rPr lang="en-US" sz="1600" b="1" dirty="0" err="1"/>
              <a:t>a vector</a:t>
            </a:r>
            <a:r>
              <a:rPr lang="en-US" sz="1600" b="1" dirty="0"/>
              <a:t> </a:t>
            </a:r>
            <a:r>
              <a:rPr lang="en-US" sz="1600" b="1" dirty="0" err="1"/>
              <a:t>of numbers</a:t>
            </a:r>
            <a:r>
              <a:rPr lang="en-US" sz="1600" dirty="0"/>
              <a:t>.</a:t>
            </a:r>
          </a:p>
          <a:p>
            <a:endParaRPr lang="pl-PL" sz="1600" dirty="0"/>
          </a:p>
          <a:p>
            <a:r>
              <a:rPr lang="en-US" sz="1600" dirty="0" err="1"/>
              <a:t>For example</a:t>
            </a:r>
            <a:r>
              <a:rPr lang="en-US" sz="1600" dirty="0"/>
              <a:t> model </a:t>
            </a:r>
            <a:r>
              <a:rPr lang="en-US" sz="1600" dirty="0" err="1"/>
              <a:t>embedding</a:t>
            </a:r>
            <a:r>
              <a:rPr lang="en-US" sz="1600" dirty="0"/>
              <a:t> </a:t>
            </a:r>
            <a:r>
              <a:rPr lang="en-US" sz="1600" dirty="0" err="1"/>
              <a:t>can</a:t>
            </a:r>
            <a:r>
              <a:rPr lang="en-US" sz="1600" dirty="0"/>
              <a:t> </a:t>
            </a:r>
            <a:r>
              <a:rPr lang="en-US" sz="1600" dirty="0" err="1"/>
              <a:t>turn</a:t>
            </a:r>
            <a:r>
              <a:rPr lang="en-US" sz="1600" dirty="0"/>
              <a:t> </a:t>
            </a:r>
            <a:r>
              <a:rPr lang="en-US" sz="1600" dirty="0" err="1"/>
              <a:t>words</a:t>
            </a:r>
            <a:r>
              <a:rPr lang="en-US" sz="1600" dirty="0"/>
              <a:t> </a:t>
            </a:r>
            <a:r>
              <a:rPr lang="en-US" sz="1600" dirty="0" err="1"/>
              <a:t>into</a:t>
            </a:r>
            <a:r>
              <a:rPr lang="en-US" sz="1600" dirty="0"/>
              <a:t> </a:t>
            </a:r>
            <a:r>
              <a:rPr lang="en-US" sz="1600" dirty="0" err="1"/>
              <a:t>something</a:t>
            </a:r>
            <a:r>
              <a:rPr lang="en-US" sz="1600" dirty="0"/>
              <a:t> </a:t>
            </a:r>
            <a:r>
              <a:rPr lang="en-US" sz="1600" dirty="0" err="1"/>
              <a:t>like this</a:t>
            </a:r>
            <a:r>
              <a:rPr lang="en-US" sz="1600" dirty="0"/>
              <a:t>:</a:t>
            </a:r>
          </a:p>
          <a:p>
            <a:r>
              <a:rPr lang="en-US" sz="1600" dirty="0"/>
              <a:t>"pies"       → [0.12, 0.84, -0.31, ...]</a:t>
            </a:r>
          </a:p>
          <a:p>
            <a:r>
              <a:rPr lang="en-US" sz="1600" dirty="0"/>
              <a:t>"</a:t>
            </a:r>
            <a:r>
              <a:rPr lang="en-US" sz="1600" dirty="0" err="1"/>
              <a:t>puppy</a:t>
            </a:r>
            <a:r>
              <a:rPr lang="en-US" sz="1600" dirty="0"/>
              <a:t>"  → [0.15, 0.79, -0.28, ...]</a:t>
            </a:r>
          </a:p>
          <a:p>
            <a:r>
              <a:rPr lang="en-US" sz="1600" dirty="0"/>
              <a:t>"</a:t>
            </a:r>
            <a:r>
              <a:rPr lang="en-US" sz="1600" dirty="0" err="1"/>
              <a:t>car</a:t>
            </a:r>
            <a:r>
              <a:rPr lang="en-US" sz="1600" dirty="0"/>
              <a:t>"   → [-0.72, 0.11, 0.63, ...]</a:t>
            </a:r>
          </a:p>
          <a:p>
            <a:pPr algn="ctr"/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A9E29-BBF4-4820-9308-F8B85A4C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4A4020-BE20-89B6-7D3D-A1B18E77B412}"/>
              </a:ext>
            </a:extLst>
          </p:cNvPr>
          <p:cNvSpPr/>
          <p:nvPr/>
        </p:nvSpPr>
        <p:spPr>
          <a:xfrm>
            <a:off x="366744" y="2196596"/>
            <a:ext cx="2880828" cy="966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Embeddings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63AB1F-AA39-1E5D-9672-862CEFF284DE}"/>
              </a:ext>
            </a:extLst>
          </p:cNvPr>
          <p:cNvSpPr/>
          <p:nvPr/>
        </p:nvSpPr>
        <p:spPr>
          <a:xfrm>
            <a:off x="366744" y="3042019"/>
            <a:ext cx="3253534" cy="10447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Similar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meaning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close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 each other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space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vector space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AEF750C7-1512-D4C1-5AA4-4937BFC1B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1017407"/>
            <a:ext cx="7225748" cy="482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6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TEXT TO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698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does not generate embeddings. It stores, indexes, and compares vectors.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177393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query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2057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73152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76472" y="2103120"/>
            <a:ext cx="15910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2057400"/>
            <a:ext cx="73152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65392" y="2103120"/>
            <a:ext cx="13624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float[]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06840" y="20574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06840" y="205740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195681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pgvector</a:t>
            </a:r>
            <a:endParaRPr lang="en-US" sz="1400" dirty="0"/>
          </a:p>
        </p:txBody>
      </p:sp>
      <p:grpSp>
        <p:nvGrpSpPr>
          <p:cNvPr id="29" name="Grupa 28">
            <a:extLst>
              <a:ext uri="{FF2B5EF4-FFF2-40B4-BE49-F238E27FC236}">
                <a16:creationId xmlns:a16="http://schemas.microsoft.com/office/drawing/2014/main" id="{BE2BC960-1D84-1243-5B26-0DFE4EBE120B}"/>
              </a:ext>
            </a:extLst>
          </p:cNvPr>
          <p:cNvGrpSpPr/>
          <p:nvPr/>
        </p:nvGrpSpPr>
        <p:grpSpPr>
          <a:xfrm>
            <a:off x="640080" y="4480560"/>
            <a:ext cx="10332720" cy="1737360"/>
            <a:chOff x="640080" y="3886200"/>
            <a:chExt cx="10332720" cy="1737360"/>
          </a:xfrm>
        </p:grpSpPr>
        <p:sp>
          <p:nvSpPr>
            <p:cNvPr id="20" name="Text 18"/>
            <p:cNvSpPr/>
            <p:nvPr/>
          </p:nvSpPr>
          <p:spPr>
            <a:xfrm>
              <a:off x="640080" y="3886200"/>
              <a:ext cx="640080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E971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Java connects these elements in one application flow.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31520" y="4480560"/>
              <a:ext cx="5212080" cy="1143000"/>
            </a:xfrm>
            <a:prstGeom prst="roundRect">
              <a:avLst>
                <a:gd name="adj" fmla="val 6400"/>
              </a:avLst>
            </a:prstGeom>
            <a:solidFill>
              <a:srgbClr val="0E2841"/>
            </a:solidFill>
            <a:ln w="12700">
              <a:solidFill>
                <a:srgbClr val="0E28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877824" y="4590288"/>
              <a:ext cx="493776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 /search?q=pool+problem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↓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EmbeddingService → SQL → top K</a:t>
              </a:r>
              <a:endParaRPr lang="en-US" sz="13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0" y="4480560"/>
              <a:ext cx="4572000" cy="1143000"/>
            </a:xfrm>
            <a:prstGeom prst="roundRect">
              <a:avLst>
                <a:gd name="adj" fmla="val 6400"/>
              </a:avLst>
            </a:prstGeom>
            <a:solidFill>
              <a:srgbClr val="0E2841"/>
            </a:solidFill>
            <a:ln w="12700">
              <a:solidFill>
                <a:srgbClr val="0E28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547104" y="4590288"/>
              <a:ext cx="429768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article(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title TEXT,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content TEXT,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embedding VECTOR(1024)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3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0" name="Dymek mowy: prostokąt z zaokrąglonymi rogami 29">
            <a:extLst>
              <a:ext uri="{FF2B5EF4-FFF2-40B4-BE49-F238E27FC236}">
                <a16:creationId xmlns:a16="http://schemas.microsoft.com/office/drawing/2014/main" id="{24D011C7-D8DA-B0CF-59CD-D1C942DD60EA}"/>
              </a:ext>
            </a:extLst>
          </p:cNvPr>
          <p:cNvSpPr/>
          <p:nvPr/>
        </p:nvSpPr>
        <p:spPr>
          <a:xfrm>
            <a:off x="1550748" y="3340950"/>
            <a:ext cx="3355848" cy="978034"/>
          </a:xfrm>
          <a:prstGeom prst="wedgeRoundRectCallout">
            <a:avLst>
              <a:gd name="adj1" fmla="val 39269"/>
              <a:gd name="adj2" fmla="val -7297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BGE-M3</a:t>
            </a:r>
            <a:r>
              <a:rPr lang="en-US" sz="1200" dirty="0"/>
              <a:t> to model </a:t>
            </a:r>
            <a:r>
              <a:rPr lang="en-US" sz="1200" dirty="0" err="1"/>
              <a:t>embedding</a:t>
            </a:r>
            <a:r>
              <a:rPr lang="en-US" sz="1200" dirty="0"/>
              <a:t> </a:t>
            </a:r>
            <a:r>
              <a:rPr lang="en-US" sz="1200" dirty="0" err="1"/>
              <a:t>created</a:t>
            </a:r>
            <a:r>
              <a:rPr lang="en-US" sz="1200" dirty="0"/>
              <a:t> </a:t>
            </a:r>
            <a:r>
              <a:rPr lang="en-US" sz="1200" dirty="0" err="1"/>
              <a:t>by</a:t>
            </a:r>
            <a:r>
              <a:rPr lang="en-US" sz="1200" dirty="0"/>
              <a:t> </a:t>
            </a:r>
            <a:r>
              <a:rPr lang="en-US" sz="1200" b="1" dirty="0"/>
              <a:t>BAAI</a:t>
            </a:r>
            <a:r>
              <a:rPr lang="en-US" sz="1200" dirty="0"/>
              <a:t> (Beijing Academy of Artificial Intelligence). </a:t>
            </a:r>
            <a:r>
              <a:rPr lang="en-US" sz="1200" dirty="0" err="1"/>
              <a:t>Its</a:t>
            </a:r>
            <a:r>
              <a:rPr lang="en-US" sz="1200" dirty="0"/>
              <a:t> </a:t>
            </a:r>
            <a:r>
              <a:rPr lang="en-US" sz="1200" dirty="0" err="1"/>
              <a:t>job</a:t>
            </a:r>
            <a:r>
              <a:rPr lang="en-US" sz="1200" dirty="0"/>
              <a:t> includes </a:t>
            </a:r>
            <a:r>
              <a:rPr lang="en-US" sz="1200" dirty="0" err="1"/>
              <a:t>turning</a:t>
            </a:r>
            <a:r>
              <a:rPr lang="en-US" sz="1200" dirty="0"/>
              <a:t> </a:t>
            </a:r>
            <a:r>
              <a:rPr lang="en-US" sz="1200" dirty="0" err="1"/>
              <a:t>text</a:t>
            </a:r>
            <a:r>
              <a:rPr lang="en-US" sz="1200" dirty="0"/>
              <a:t> </a:t>
            </a:r>
            <a:r>
              <a:rPr lang="en-US" sz="1200" dirty="0" err="1"/>
              <a:t>into</a:t>
            </a:r>
            <a:r>
              <a:rPr lang="en-US" sz="1200" dirty="0"/>
              <a:t> embedding</a:t>
            </a:r>
          </a:p>
        </p:txBody>
      </p:sp>
      <p:sp>
        <p:nvSpPr>
          <p:cNvPr id="32" name="Dymek mowy: prostokąt z zaokrąglonymi rogami 31">
            <a:extLst>
              <a:ext uri="{FF2B5EF4-FFF2-40B4-BE49-F238E27FC236}">
                <a16:creationId xmlns:a16="http://schemas.microsoft.com/office/drawing/2014/main" id="{B211EAAB-39B2-5149-18C2-FB5F268B8C87}"/>
              </a:ext>
            </a:extLst>
          </p:cNvPr>
          <p:cNvSpPr/>
          <p:nvPr/>
        </p:nvSpPr>
        <p:spPr>
          <a:xfrm>
            <a:off x="7146036" y="3340950"/>
            <a:ext cx="3355848" cy="978034"/>
          </a:xfrm>
          <a:prstGeom prst="wedgeRoundRectCallout">
            <a:avLst>
              <a:gd name="adj1" fmla="val 39269"/>
              <a:gd name="adj2" fmla="val -7297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 err="1"/>
              <a:t>pgvector</a:t>
            </a:r>
            <a:r>
              <a:rPr lang="en-US" sz="1200" dirty="0"/>
              <a:t> = </a:t>
            </a:r>
            <a:r>
              <a:rPr lang="en-US" sz="1200" dirty="0" err="1"/>
              <a:t>an extension of</a:t>
            </a:r>
            <a:r>
              <a:rPr lang="en-US" sz="1200" dirty="0"/>
              <a:t> PostgreSQL </a:t>
            </a:r>
            <a:r>
              <a:rPr lang="en-US" sz="1200" dirty="0" err="1"/>
              <a:t>that enables</a:t>
            </a:r>
            <a:r>
              <a:rPr lang="en-US" sz="1200" dirty="0"/>
              <a:t> </a:t>
            </a:r>
            <a:r>
              <a:rPr lang="en-US" sz="1200" dirty="0" err="1"/>
              <a:t>storing</a:t>
            </a:r>
            <a:r>
              <a:rPr lang="en-US" sz="1200" dirty="0"/>
              <a:t> </a:t>
            </a:r>
            <a:r>
              <a:rPr lang="en-US" sz="1200" dirty="0" err="1"/>
              <a:t>embeddings</a:t>
            </a:r>
            <a:r>
              <a:rPr lang="en-US" sz="1200" dirty="0"/>
              <a:t> </a:t>
            </a:r>
            <a:r>
              <a:rPr lang="en-US" sz="1200" dirty="0" err="1"/>
              <a:t>and</a:t>
            </a:r>
            <a:r>
              <a:rPr lang="en-US" sz="1200" dirty="0"/>
              <a:t> </a:t>
            </a:r>
            <a:r>
              <a:rPr lang="en-US" sz="1200" dirty="0" err="1"/>
              <a:t>searching</a:t>
            </a:r>
            <a:r>
              <a:rPr lang="en-US" sz="1200" dirty="0"/>
              <a:t> </a:t>
            </a:r>
            <a:r>
              <a:rPr lang="en-US" sz="1200" dirty="0" err="1"/>
              <a:t>data</a:t>
            </a:r>
            <a:r>
              <a:rPr lang="en-US" sz="1200" dirty="0"/>
              <a:t> </a:t>
            </a:r>
            <a:r>
              <a:rPr lang="en-US" sz="1200" dirty="0" err="1"/>
              <a:t>into</a:t>
            </a:r>
            <a:r>
              <a:rPr lang="en-US" sz="1200" dirty="0"/>
              <a:t> </a:t>
            </a:r>
            <a:r>
              <a:rPr lang="en-US" sz="1200" dirty="0" err="1"/>
              <a:t/>
            </a:r>
            <a:r>
              <a:rPr lang="en-US" sz="1200" dirty="0"/>
              <a:t> </a:t>
            </a:r>
            <a:r>
              <a:rPr lang="en-US" sz="1200" dirty="0" err="1"/>
              <a:t>similarity</a:t>
            </a:r>
            <a:r>
              <a:rPr lang="en-US" sz="1200" dirty="0"/>
              <a:t> </a:t>
            </a:r>
            <a:r>
              <a:rPr lang="en-US" sz="1200" dirty="0" err="1"/>
              <a:t>semantic</a:t>
            </a:r>
            <a:endParaRPr lang="en-US" sz="1200" dirty="0">
              <a:solidFill>
                <a:srgbClr val="F4F7FA"/>
              </a:solidFill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CONFIGURATION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+ pgvector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669280" cy="3474720"/>
          </a:xfrm>
          <a:prstGeom prst="roundRect">
            <a:avLst>
              <a:gd name="adj" fmla="val 2105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527048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EXTENSION IF NOT EXISTS vector;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article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BIGSERIAL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 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 VECTOR(1024)</a:t>
            </a:r>
            <a:r>
              <a:rPr lang="pl-PL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r>
              <a:rPr lang="pl-PL" sz="1400" dirty="0">
                <a:solidFill>
                  <a:srgbClr val="F4F7FA"/>
                </a:solidFill>
                <a:latin typeface="Consolas" pitchFamily="34" charset="0"/>
              </a:rPr>
              <a:t>    </a:t>
            </a:r>
            <a:r>
              <a:rPr lang="pl-PL" sz="1400" dirty="0" err="1">
                <a:solidFill>
                  <a:srgbClr val="F4F7FA"/>
                </a:solidFill>
                <a:latin typeface="Consolas" pitchFamily="34" charset="0"/>
              </a:rPr>
              <a:t>search_tsv</a:t>
            </a:r>
            <a:r>
              <a:rPr lang="pl-PL" sz="1400" dirty="0">
                <a:solidFill>
                  <a:srgbClr val="F4F7FA"/>
                </a:solidFill>
                <a:latin typeface="Consolas" pitchFamily="34" charset="0"/>
              </a:rPr>
              <a:t> TSVECTOR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122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get in one data 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2148840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and relationships in PostgreSQL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2770632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78040" y="2660904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column next to domain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3392424"/>
            <a:ext cx="164592" cy="16459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8040" y="3282696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for filtering and ranking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4014216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78040" y="3904488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backup, monitoring, and deployment 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615161"/>
            <a:ext cx="484818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VECTOR(1024) must match the model dimension.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6" name="Dymek mowy: prostokąt z zaokrąglonymi rogami 15">
            <a:extLst>
              <a:ext uri="{FF2B5EF4-FFF2-40B4-BE49-F238E27FC236}">
                <a16:creationId xmlns:a16="http://schemas.microsoft.com/office/drawing/2014/main" id="{5E522EE1-BC5F-0CB7-644F-20AA5C965FA8}"/>
              </a:ext>
            </a:extLst>
          </p:cNvPr>
          <p:cNvSpPr/>
          <p:nvPr/>
        </p:nvSpPr>
        <p:spPr>
          <a:xfrm>
            <a:off x="7178040" y="4895272"/>
            <a:ext cx="3591353" cy="1578553"/>
          </a:xfrm>
          <a:prstGeom prst="wedgeRoundRectCallout">
            <a:avLst>
              <a:gd name="adj1" fmla="val -161908"/>
              <a:gd name="adj2" fmla="val -13870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 err="1"/>
              <a:t>The column</a:t>
            </a:r>
            <a:r>
              <a:rPr lang="en-US" sz="1200" dirty="0"/>
              <a:t> </a:t>
            </a:r>
            <a:r>
              <a:rPr lang="en-US" sz="1200" dirty="0" err="1"/>
              <a:t>of type</a:t>
            </a:r>
            <a:r>
              <a:rPr lang="en-US" sz="1200" dirty="0"/>
              <a:t> </a:t>
            </a:r>
            <a:r>
              <a:rPr lang="en-US" sz="1200" b="1" dirty="0"/>
              <a:t>TSVECTOR</a:t>
            </a:r>
            <a:r>
              <a:rPr lang="en-US" sz="1200" dirty="0"/>
              <a:t> </a:t>
            </a:r>
            <a:r>
              <a:rPr lang="en-US" sz="1200" dirty="0" err="1"/>
              <a:t>is used</a:t>
            </a:r>
            <a:r>
              <a:rPr lang="en-US" sz="1200" dirty="0"/>
              <a:t> in PostgreSQL for </a:t>
            </a:r>
            <a:r>
              <a:rPr lang="en-US" sz="1200" dirty="0" err="1"/>
              <a:t>classic</a:t>
            </a:r>
            <a:r>
              <a:rPr lang="en-US" sz="1200" dirty="0"/>
              <a:t> </a:t>
            </a:r>
            <a:r>
              <a:rPr lang="en-US" sz="1200" b="1" dirty="0"/>
              <a:t>Full-Text Search (FTS)</a:t>
            </a:r>
            <a:r>
              <a:rPr lang="pl-PL" sz="1200" b="1" dirty="0"/>
              <a:t>.</a:t>
            </a:r>
          </a:p>
          <a:p>
            <a:endParaRPr lang="pl-PL" sz="1200" b="1" dirty="0"/>
          </a:p>
          <a:p>
            <a:r>
              <a:rPr lang="en-US" sz="1200" dirty="0"/>
              <a:t>PostgreSQL, among other things, </a:t>
            </a:r>
            <a:r>
              <a:rPr lang="en-US" sz="1200" dirty="0" err="1"/>
              <a:t>splits</a:t>
            </a:r>
            <a:r>
              <a:rPr lang="en-US" sz="1200" dirty="0"/>
              <a:t> </a:t>
            </a:r>
            <a:r>
              <a:rPr lang="en-US" sz="1200" dirty="0" err="1"/>
              <a:t>text</a:t>
            </a:r>
            <a:r>
              <a:rPr lang="en-US" sz="1200" dirty="0"/>
              <a:t> </a:t>
            </a:r>
            <a:r>
              <a:rPr lang="en-US" sz="1200" dirty="0" err="1"/>
              <a:t>into</a:t>
            </a:r>
            <a:r>
              <a:rPr lang="en-US" sz="1200" dirty="0"/>
              <a:t> </a:t>
            </a:r>
            <a:r>
              <a:rPr lang="en-US" sz="1200" dirty="0" err="1"/>
              <a:t>tokens</a:t>
            </a:r>
            <a:r>
              <a:rPr lang="en-US" sz="1200" dirty="0"/>
              <a:t>, </a:t>
            </a:r>
            <a:r>
              <a:rPr lang="en-US" sz="1200" dirty="0" err="1"/>
              <a:t>removes</a:t>
            </a:r>
            <a:r>
              <a:rPr lang="en-US" sz="1200" dirty="0"/>
              <a:t> </a:t>
            </a:r>
            <a:r>
              <a:rPr lang="en-US" sz="1200" dirty="0" err="1"/>
              <a:t>some</a:t>
            </a:r>
            <a:r>
              <a:rPr lang="en-US" sz="1200" dirty="0"/>
              <a:t> </a:t>
            </a:r>
            <a:r>
              <a:rPr lang="en-US" sz="1200" dirty="0" err="1"/>
              <a:t>irrelevant</a:t>
            </a:r>
            <a:r>
              <a:rPr lang="en-US" sz="1200" dirty="0"/>
              <a:t> </a:t>
            </a:r>
            <a:r>
              <a:rPr lang="en-US" sz="1200" dirty="0" err="1"/>
              <a:t>words</a:t>
            </a:r>
            <a:r>
              <a:rPr lang="en-US" sz="1200" dirty="0"/>
              <a:t> </a:t>
            </a:r>
            <a:r>
              <a:rPr lang="en-US" sz="1200" dirty="0" err="1"/>
              <a:t>and</a:t>
            </a:r>
            <a:r>
              <a:rPr lang="en-US" sz="1200" dirty="0"/>
              <a:t> </a:t>
            </a:r>
            <a:r>
              <a:rPr lang="en-US" sz="1200" dirty="0" err="1"/>
              <a:t>reduces</a:t>
            </a:r>
            <a:r>
              <a:rPr lang="en-US" sz="1200" dirty="0"/>
              <a:t> </a:t>
            </a:r>
            <a:r>
              <a:rPr lang="en-US" sz="1200" dirty="0" err="1"/>
              <a:t>words</a:t>
            </a:r>
            <a:r>
              <a:rPr lang="en-US" sz="1200" dirty="0"/>
              <a:t> to forms </a:t>
            </a:r>
            <a:r>
              <a:rPr lang="en-US" sz="1200" dirty="0" err="1"/>
              <a:t>that make</a:t>
            </a:r>
            <a:r>
              <a:rPr lang="en-US" sz="1200" dirty="0"/>
              <a:t> </a:t>
            </a:r>
            <a:r>
              <a:rPr lang="en-US" sz="1200" dirty="0" err="1"/>
              <a:t>more effective</a:t>
            </a:r>
            <a:r>
              <a:rPr lang="en-US" sz="1200" dirty="0"/>
              <a:t> them </a:t>
            </a:r>
            <a:r>
              <a:rPr lang="en-US" sz="1200" dirty="0" err="1"/>
              <a:t>searching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Generating embeddings in 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contract is small. You can replace the model later.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126480" cy="3886200"/>
          </a:xfrm>
          <a:prstGeom prst="roundRect">
            <a:avLst>
              <a:gd name="adj" fmla="val 1882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801368"/>
            <a:ext cx="5852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EmbeddingClient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 embed(String text);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ArticleService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pl-PL" sz="1200" dirty="0">
              <a:solidFill>
                <a:srgbClr val="F4F7F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pl-PL" sz="1200" dirty="0">
                <a:solidFill>
                  <a:srgbClr val="F4F7FA"/>
                </a:solidFill>
                <a:latin typeface="Consolas" pitchFamily="34" charset="0"/>
              </a:rPr>
              <a:t> 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public long create(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CreateArticleRequest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request) {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var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textToEmbed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=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request.title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 + "\n" +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request.content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var embedding =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embeddingClient.embed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textToEmbed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var article =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   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repository.save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        new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ArticleEntity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request.title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(),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request.content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(),</a:t>
            </a:r>
            <a:r>
              <a:rPr lang="pl-PL" sz="1200" dirty="0">
                <a:solidFill>
                  <a:srgbClr val="F4F7FA"/>
                </a:solidFill>
                <a:latin typeface="Consolas" pitchFamily="34" charset="0"/>
              </a:rPr>
              <a:t>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request.category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(), embedding));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return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article.getId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73736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35240" y="201168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35240" y="2020824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3524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service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Spring AI</a:t>
            </a:r>
            <a:r>
              <a:rPr lang="pl-PL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</a:t>
            </a:r>
            <a:r>
              <a:rPr lang="en-US" sz="1500" dirty="0" err="1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</a:t>
            </a: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615" y="5671146"/>
            <a:ext cx="6126479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distinction is: model ≠ vector database.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DISTANCE-BASED SEARCH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Similarity search in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6583680" cy="2377440"/>
          </a:xfrm>
          <a:prstGeom prst="roundRect">
            <a:avLst>
              <a:gd name="adj" fmla="val 3077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2104" y="1435608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content,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embedding &lt;=&gt; :query_embedding AS distance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article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:category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:query_embedding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operators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87452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1938528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49640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distance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2496312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&lt;#&gt;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inner product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3118104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318211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distance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483732"/>
            <a:ext cx="599491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metric for the index and the query.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F5D643CB-7D0B-770D-F5C2-9CD5D2F12D1F}"/>
              </a:ext>
            </a:extLst>
          </p:cNvPr>
          <p:cNvSpPr/>
          <p:nvPr/>
        </p:nvSpPr>
        <p:spPr>
          <a:xfrm>
            <a:off x="7020353" y="4078784"/>
            <a:ext cx="4501087" cy="2418308"/>
          </a:xfrm>
          <a:prstGeom prst="wedgeRoundRectCallout">
            <a:avLst>
              <a:gd name="adj1" fmla="val -2176"/>
              <a:gd name="adj2" fmla="val -6482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Euclidean distance</a:t>
            </a:r>
            <a:r>
              <a:rPr lang="en-US" sz="1200" dirty="0"/>
              <a:t> </a:t>
            </a:r>
            <a:r>
              <a:rPr lang="en-US" sz="1200" dirty="0" err="1"/>
              <a:t>measures</a:t>
            </a:r>
            <a:r>
              <a:rPr lang="en-US" sz="1200" dirty="0"/>
              <a:t> </a:t>
            </a:r>
            <a:r>
              <a:rPr lang="en-US" sz="1200" dirty="0" err="1"/>
              <a:t>physical</a:t>
            </a:r>
            <a:r>
              <a:rPr lang="en-US" sz="1200" dirty="0"/>
              <a:t> </a:t>
            </a:r>
            <a:r>
              <a:rPr lang="en-US" sz="1200" dirty="0" err="1"/>
              <a:t>distance</a:t>
            </a:r>
            <a:r>
              <a:rPr lang="en-US" sz="1200" dirty="0"/>
              <a:t> </a:t>
            </a:r>
            <a:r>
              <a:rPr lang="en-US" sz="1200" dirty="0" err="1"/>
              <a:t>between</a:t>
            </a:r>
            <a:r>
              <a:rPr lang="en-US" sz="1200" dirty="0"/>
              <a:t> </a:t>
            </a:r>
            <a:r>
              <a:rPr lang="en-US" sz="1200" dirty="0" err="1"/>
              <a:t>points</a:t>
            </a:r>
            <a:r>
              <a:rPr lang="en-US" sz="1200" dirty="0"/>
              <a:t> in </a:t>
            </a:r>
            <a:r>
              <a:rPr lang="en-US" sz="1200" dirty="0" err="1"/>
              <a:t>space</a:t>
            </a:r>
            <a:r>
              <a:rPr lang="pl-PL" sz="1200" dirty="0"/>
              <a:t>.</a:t>
            </a:r>
          </a:p>
          <a:p>
            <a:endParaRPr lang="pl-PL" sz="1200" dirty="0"/>
          </a:p>
          <a:p>
            <a:r>
              <a:rPr lang="en-US" sz="1200" b="1" dirty="0"/>
              <a:t>Cosine distance</a:t>
            </a:r>
            <a:r>
              <a:rPr lang="en-US" sz="1200" dirty="0"/>
              <a:t> </a:t>
            </a:r>
            <a:r>
              <a:rPr lang="en-US" sz="1200" dirty="0" err="1"/>
              <a:t>focuses</a:t>
            </a:r>
            <a:r>
              <a:rPr lang="en-US" sz="1200" dirty="0"/>
              <a:t> </a:t>
            </a:r>
            <a:r>
              <a:rPr lang="en-US" sz="1200" dirty="0" err="1"/>
              <a:t>above</a:t>
            </a:r>
            <a:r>
              <a:rPr lang="en-US" sz="1200" dirty="0"/>
              <a:t> </a:t>
            </a:r>
            <a:r>
              <a:rPr lang="en-US" sz="1200" dirty="0" err="1"/>
              <a:t>all</a:t>
            </a:r>
            <a:r>
              <a:rPr lang="en-US" sz="1200" dirty="0"/>
              <a:t> </a:t>
            </a:r>
            <a:r>
              <a:rPr lang="en-US" sz="1200" dirty="0" err="1"/>
              <a:t>into</a:t>
            </a:r>
            <a:r>
              <a:rPr lang="en-US" sz="1200" dirty="0"/>
              <a:t> </a:t>
            </a:r>
            <a:r>
              <a:rPr lang="en-US" sz="1200" b="1" dirty="0" err="1"/>
              <a:t>angle</a:t>
            </a:r>
            <a:r>
              <a:rPr lang="en-US" sz="1200" b="1" dirty="0"/>
              <a:t> </a:t>
            </a:r>
            <a:r>
              <a:rPr lang="en-US" sz="1200" b="1" dirty="0" err="1"/>
              <a:t>between</a:t>
            </a:r>
            <a:r>
              <a:rPr lang="en-US" sz="1200" b="1" dirty="0"/>
              <a:t> </a:t>
            </a:r>
            <a:r>
              <a:rPr lang="en-US" sz="1200" b="1" dirty="0" err="1"/>
              <a:t>vectors</a:t>
            </a:r>
            <a:r>
              <a:rPr lang="en-US" sz="1200" dirty="0"/>
              <a:t>, a </a:t>
            </a:r>
            <a:r>
              <a:rPr lang="en-US" sz="1200" dirty="0" err="1"/>
              <a:t>does not</a:t>
            </a:r>
            <a:r>
              <a:rPr lang="en-US" sz="1200" dirty="0"/>
              <a:t> </a:t>
            </a:r>
            <a:r>
              <a:rPr lang="en-US" sz="1200" dirty="0" err="1"/>
              <a:t>into</a:t>
            </a:r>
            <a:r>
              <a:rPr lang="en-US" sz="1200" dirty="0"/>
              <a:t> ich </a:t>
            </a:r>
            <a:r>
              <a:rPr lang="en-US" sz="1200" dirty="0" err="1"/>
              <a:t>length</a:t>
            </a:r>
            <a:endParaRPr lang="pl-PL" sz="1200" dirty="0"/>
          </a:p>
          <a:p>
            <a:endParaRPr lang="pl-PL" sz="1200" dirty="0"/>
          </a:p>
          <a:p>
            <a:r>
              <a:rPr lang="en-US" sz="1200" b="1" dirty="0"/>
              <a:t>Negative inner product</a:t>
            </a:r>
            <a:r>
              <a:rPr lang="en-US" sz="1200" dirty="0"/>
              <a:t> is </a:t>
            </a:r>
            <a:r>
              <a:rPr lang="en-US" sz="1200" dirty="0" err="1"/>
              <a:t>negative</a:t>
            </a:r>
            <a:r>
              <a:rPr lang="en-US" sz="1200" dirty="0"/>
              <a:t> </a:t>
            </a:r>
            <a:r>
              <a:rPr lang="en-US" sz="1200" b="1" dirty="0" err="1"/>
              <a:t>product</a:t>
            </a:r>
            <a:r>
              <a:rPr lang="en-US" sz="1200" b="1" dirty="0"/>
              <a:t> </a:t>
            </a:r>
            <a:r>
              <a:rPr lang="en-US" sz="1200" b="1" dirty="0" err="1"/>
              <a:t>scalar</a:t>
            </a:r>
            <a:r>
              <a:rPr lang="en-US" sz="1200" dirty="0"/>
              <a:t> </a:t>
            </a:r>
            <a:r>
              <a:rPr lang="en-US" sz="1200" dirty="0" err="1"/>
              <a:t>two</a:t>
            </a:r>
            <a:r>
              <a:rPr lang="en-US" sz="1200" dirty="0"/>
              <a:t> </a:t>
            </a:r>
            <a:r>
              <a:rPr lang="en-US" sz="1200" dirty="0" err="1"/>
              <a:t>vectors</a:t>
            </a:r>
            <a:r>
              <a:rPr lang="en-US" sz="1200" dirty="0"/>
              <a:t>. </a:t>
            </a:r>
            <a:r>
              <a:rPr lang="en-US" sz="1200" dirty="0" err="1"/>
              <a:t>pgvector</a:t>
            </a:r>
            <a:r>
              <a:rPr lang="en-US" sz="1200" dirty="0"/>
              <a:t> is </a:t>
            </a:r>
            <a:r>
              <a:rPr lang="en-US" sz="1200" dirty="0" err="1"/>
              <a:t>the third</a:t>
            </a:r>
            <a:r>
              <a:rPr lang="en-US" sz="1200" dirty="0"/>
              <a:t> </a:t>
            </a:r>
            <a:r>
              <a:rPr lang="en-US" sz="1200" dirty="0" err="1"/>
              <a:t>popular</a:t>
            </a:r>
            <a:r>
              <a:rPr lang="en-US" sz="1200" dirty="0"/>
              <a:t> </a:t>
            </a:r>
            <a:r>
              <a:rPr lang="en-US" sz="1200" dirty="0" err="1"/>
              <a:t>metric</a:t>
            </a:r>
            <a:r>
              <a:rPr lang="en-US" sz="1200" dirty="0"/>
              <a:t> </a:t>
            </a:r>
            <a:r>
              <a:rPr lang="en-US" sz="1200" dirty="0" err="1"/>
              <a:t>alongside</a:t>
            </a:r>
            <a:r>
              <a:rPr lang="en-US" sz="1200" dirty="0"/>
              <a:t> Euclidean </a:t>
            </a:r>
            <a:r>
              <a:rPr lang="en-US" sz="1200" dirty="0" err="1"/>
              <a:t>and</a:t>
            </a:r>
            <a:r>
              <a:rPr lang="en-US" sz="1200" dirty="0"/>
              <a:t> cosine distance.</a:t>
            </a:r>
            <a:endParaRPr lang="pl-PL" sz="1200" dirty="0"/>
          </a:p>
          <a:p>
            <a:endParaRPr lang="pl-PL" sz="1200" dirty="0"/>
          </a:p>
          <a:p>
            <a:r>
              <a:rPr lang="en-US" sz="1200" dirty="0" err="1"/>
              <a:t>With</a:t>
            </a:r>
            <a:r>
              <a:rPr lang="en-US" sz="1200" dirty="0"/>
              <a:t> </a:t>
            </a:r>
            <a:r>
              <a:rPr lang="en-US" sz="1200" b="1" dirty="0" err="1"/>
              <a:t>normalized</a:t>
            </a:r>
            <a:r>
              <a:rPr lang="en-US" sz="1200" b="1" dirty="0"/>
              <a:t> </a:t>
            </a:r>
            <a:r>
              <a:rPr lang="en-US" sz="1200" b="1" dirty="0" err="1"/>
              <a:t>vectors</a:t>
            </a:r>
            <a:r>
              <a:rPr lang="en-US" sz="1200" dirty="0"/>
              <a:t> ranking </a:t>
            </a:r>
            <a:r>
              <a:rPr lang="en-US" sz="1200" dirty="0" err="1"/>
              <a:t>by</a:t>
            </a:r>
            <a:r>
              <a:rPr lang="en-US" sz="1200" dirty="0"/>
              <a:t> cosine </a:t>
            </a:r>
            <a:r>
              <a:rPr lang="en-US" sz="1200" dirty="0" err="1"/>
              <a:t>and</a:t>
            </a:r>
            <a:r>
              <a:rPr lang="en-US" sz="1200" dirty="0"/>
              <a:t> Euclidean is in </a:t>
            </a:r>
            <a:r>
              <a:rPr lang="en-US" sz="1200" dirty="0" err="1"/>
              <a:t>practice</a:t>
            </a:r>
            <a:r>
              <a:rPr lang="en-US" sz="1200" dirty="0"/>
              <a:t> </a:t>
            </a:r>
            <a:r>
              <a:rPr lang="en-US" sz="1200" dirty="0" err="1"/>
              <a:t>equivalent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QUERY, TWO WAYS TO SEARCH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Query: “the application has too few database connections”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/ ILIKE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542032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6424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content ILIKE '%database connections%'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depends on the exact words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2542032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21424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return “HikariCP configuration”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063240"/>
            <a:ext cx="4572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3401568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ACCELERATING ANN SEARCH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HNSW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241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an index, PostgreSQL compares the query with every vector.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84048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64208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31136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98064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2139696"/>
            <a:ext cx="201168" cy="20116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0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98848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1691640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920240"/>
            <a:ext cx="0" cy="219456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365760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2468880"/>
            <a:ext cx="45720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0" y="2057400"/>
            <a:ext cx="822960" cy="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2468880"/>
            <a:ext cx="73152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509760" y="2057400"/>
            <a:ext cx="731520" cy="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18120" y="1920240"/>
            <a:ext cx="256032" cy="25603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41080" y="2331720"/>
            <a:ext cx="256032" cy="25603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372600" y="1920240"/>
            <a:ext cx="256032" cy="25603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2651760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 a graph of similar points</a:t>
            </a:r>
            <a:endParaRPr lang="en-US" sz="1400" dirty="0"/>
          </a:p>
        </p:txBody>
      </p:sp>
      <p:grpSp>
        <p:nvGrpSpPr>
          <p:cNvPr id="31" name="Grupa 30">
            <a:extLst>
              <a:ext uri="{FF2B5EF4-FFF2-40B4-BE49-F238E27FC236}">
                <a16:creationId xmlns:a16="http://schemas.microsoft.com/office/drawing/2014/main" id="{09004ECF-1951-30B3-E1A5-EDB426EBCDDA}"/>
              </a:ext>
            </a:extLst>
          </p:cNvPr>
          <p:cNvGrpSpPr/>
          <p:nvPr/>
        </p:nvGrpSpPr>
        <p:grpSpPr>
          <a:xfrm>
            <a:off x="777240" y="3493008"/>
            <a:ext cx="10515600" cy="822959"/>
            <a:chOff x="868680" y="3977640"/>
            <a:chExt cx="10515600" cy="822959"/>
          </a:xfrm>
        </p:grpSpPr>
        <p:sp>
          <p:nvSpPr>
            <p:cNvPr id="27" name="Shape 25"/>
            <p:cNvSpPr/>
            <p:nvPr/>
          </p:nvSpPr>
          <p:spPr>
            <a:xfrm>
              <a:off x="868680" y="3977640"/>
              <a:ext cx="10515600" cy="822959"/>
            </a:xfrm>
            <a:prstGeom prst="roundRect">
              <a:avLst>
                <a:gd name="adj" fmla="val 10000"/>
              </a:avLst>
            </a:prstGeom>
            <a:solidFill>
              <a:srgbClr val="FFF1E8"/>
            </a:solidFill>
            <a:ln w="12700">
              <a:solidFill>
                <a:srgbClr val="E9713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143000" y="4279392"/>
              <a:ext cx="5669280" cy="25603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E971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HNSW = Hierarchical Navigable Small World</a:t>
              </a:r>
              <a:endParaRPr lang="en-US" sz="1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583680" y="429768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ANN: </a:t>
              </a:r>
              <a:r>
                <a:rPr lang="en-US" sz="1600" b="1" dirty="0" err="1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faster</a:t>
              </a:r>
              <a:r>
                <a:rPr lang="en-US" sz="16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but the result is approximate</a:t>
              </a:r>
              <a:endParaRPr lang="en-US" sz="1600" dirty="0"/>
            </a:p>
          </p:txBody>
        </p:sp>
      </p:grp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2" name="Dymek mowy: prostokąt z zaokrąglonymi rogami 31">
            <a:extLst>
              <a:ext uri="{FF2B5EF4-FFF2-40B4-BE49-F238E27FC236}">
                <a16:creationId xmlns:a16="http://schemas.microsoft.com/office/drawing/2014/main" id="{992BB57D-EB31-059D-4B3B-21C1BF9AFA5C}"/>
              </a:ext>
            </a:extLst>
          </p:cNvPr>
          <p:cNvSpPr/>
          <p:nvPr/>
        </p:nvSpPr>
        <p:spPr>
          <a:xfrm>
            <a:off x="1097280" y="4609321"/>
            <a:ext cx="3749040" cy="2015413"/>
          </a:xfrm>
          <a:prstGeom prst="wedgeRoundRectCallout">
            <a:avLst>
              <a:gd name="adj1" fmla="val -39903"/>
              <a:gd name="adj2" fmla="val -621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200" dirty="0"/>
              <a:t>Instead</a:t>
            </a:r>
            <a:r>
              <a:rPr lang="en-US" sz="1200" dirty="0" err="1"/>
              <a:t> of</a:t>
            </a:r>
            <a:r>
              <a:rPr lang="en-US" sz="1200" dirty="0"/>
              <a:t> </a:t>
            </a:r>
            <a:r>
              <a:rPr lang="en-US" sz="1200" dirty="0" err="1"/>
              <a:t>comparing</a:t>
            </a:r>
            <a:r>
              <a:rPr lang="en-US" sz="1200" dirty="0"/>
              <a:t> embedding </a:t>
            </a:r>
            <a:r>
              <a:rPr lang="en-US" sz="1200" dirty="0" err="1"/>
              <a:t>the query</a:t>
            </a:r>
            <a:r>
              <a:rPr lang="en-US" sz="1200" dirty="0"/>
              <a:t> with </a:t>
            </a:r>
            <a:r>
              <a:rPr lang="en-US" sz="1200" b="1" dirty="0" err="1"/>
              <a:t>all</a:t>
            </a:r>
            <a:r>
              <a:rPr lang="en-US" sz="1200" dirty="0"/>
              <a:t> </a:t>
            </a:r>
            <a:r>
              <a:rPr lang="en-US" sz="1200" dirty="0" err="1"/>
              <a:t>embeddings</a:t>
            </a:r>
            <a:r>
              <a:rPr lang="en-US" sz="1200" dirty="0"/>
              <a:t> in </a:t>
            </a:r>
            <a:r>
              <a:rPr lang="en-US" sz="1200" dirty="0" err="1"/>
              <a:t>the database</a:t>
            </a:r>
            <a:r>
              <a:rPr lang="en-US" sz="1200" dirty="0"/>
              <a:t>, HNSW </a:t>
            </a:r>
            <a:r>
              <a:rPr lang="en-US" sz="1200" dirty="0" err="1"/>
              <a:t>builds</a:t>
            </a:r>
            <a:r>
              <a:rPr lang="en-US" sz="1200" dirty="0"/>
              <a:t> </a:t>
            </a:r>
            <a:r>
              <a:rPr lang="en-US" sz="1200" dirty="0" err="1"/>
              <a:t>a graph</a:t>
            </a:r>
            <a:r>
              <a:rPr lang="en-US" sz="1200" dirty="0"/>
              <a:t>, along which </a:t>
            </a:r>
            <a:r>
              <a:rPr lang="en-US" sz="1200" dirty="0" err="1"/>
              <a:t>which you can</a:t>
            </a:r>
            <a:r>
              <a:rPr lang="en-US" sz="1200" dirty="0"/>
              <a:t> </a:t>
            </a:r>
            <a:r>
              <a:rPr lang="en-US" sz="1200" dirty="0" err="1"/>
              <a:t>can</a:t>
            </a:r>
            <a:r>
              <a:rPr lang="en-US" sz="1200" dirty="0"/>
              <a:t> </a:t>
            </a:r>
            <a:r>
              <a:rPr lang="en-US" sz="1200" dirty="0" err="1"/>
              <a:t>quickly</a:t>
            </a:r>
            <a:r>
              <a:rPr lang="en-US" sz="1200" dirty="0"/>
              <a:t> „</a:t>
            </a:r>
            <a:r>
              <a:rPr lang="en-US" sz="1200" dirty="0" err="1"/>
              <a:t>navigate</a:t>
            </a:r>
            <a:r>
              <a:rPr lang="en-US" sz="1200" dirty="0"/>
              <a:t>” toward </a:t>
            </a:r>
            <a:r>
              <a:rPr lang="en-US" sz="1200" dirty="0" err="1"/>
              <a:t>toward</a:t>
            </a:r>
            <a:r>
              <a:rPr lang="en-US" sz="1200" dirty="0"/>
              <a:t> </a:t>
            </a:r>
            <a:r>
              <a:rPr lang="en-US" sz="1200" dirty="0" err="1"/>
              <a:t>the most</a:t>
            </a:r>
            <a:r>
              <a:rPr lang="en-US" sz="1200" dirty="0"/>
              <a:t> </a:t>
            </a:r>
            <a:r>
              <a:rPr lang="en-US" sz="1200" dirty="0" err="1"/>
              <a:t>similar</a:t>
            </a:r>
            <a:r>
              <a:rPr lang="en-US" sz="1200" dirty="0"/>
              <a:t> </a:t>
            </a:r>
            <a:r>
              <a:rPr lang="en-US" sz="1200" dirty="0" err="1"/>
              <a:t>vectors</a:t>
            </a:r>
            <a:r>
              <a:rPr lang="en-US" sz="1200" dirty="0"/>
              <a:t>.</a:t>
            </a:r>
            <a:endParaRPr lang="pl-PL" sz="1200" dirty="0"/>
          </a:p>
          <a:p>
            <a:endParaRPr lang="pl-PL" sz="1200" dirty="0"/>
          </a:p>
          <a:p>
            <a:r>
              <a:rPr lang="en-US" sz="1200" dirty="0" err="1"/>
              <a:t>You can</a:t>
            </a:r>
            <a:r>
              <a:rPr lang="en-US" sz="1200" dirty="0"/>
              <a:t> is </a:t>
            </a:r>
            <a:r>
              <a:rPr lang="en-US" sz="1200" dirty="0" err="1"/>
              <a:t>compare it</a:t>
            </a:r>
            <a:r>
              <a:rPr lang="en-US" sz="1200" dirty="0"/>
              <a:t> to </a:t>
            </a:r>
            <a:r>
              <a:rPr lang="en-US" sz="1200" dirty="0" err="1"/>
              <a:t>finding</a:t>
            </a:r>
            <a:r>
              <a:rPr lang="en-US" sz="1200" dirty="0"/>
              <a:t> </a:t>
            </a:r>
            <a:r>
              <a:rPr lang="en-US" sz="1200" dirty="0" err="1"/>
              <a:t>an address</a:t>
            </a:r>
            <a:r>
              <a:rPr lang="en-US" sz="1200" dirty="0"/>
              <a:t>:</a:t>
            </a:r>
          </a:p>
          <a:p>
            <a:r>
              <a:rPr lang="en-US" sz="1200" b="1" dirty="0" err="1"/>
              <a:t>country</a:t>
            </a:r>
            <a:r>
              <a:rPr lang="en-US" sz="1200" b="1" dirty="0"/>
              <a:t> → </a:t>
            </a:r>
            <a:r>
              <a:rPr lang="en-US" sz="1200" b="1" dirty="0" err="1"/>
              <a:t>city</a:t>
            </a:r>
            <a:r>
              <a:rPr lang="en-US" sz="1200" b="1" dirty="0"/>
              <a:t> → </a:t>
            </a:r>
            <a:r>
              <a:rPr lang="en-US" sz="1200" b="1" dirty="0" err="1"/>
              <a:t>district</a:t>
            </a:r>
            <a:r>
              <a:rPr lang="en-US" sz="1200" b="1" dirty="0"/>
              <a:t> → </a:t>
            </a:r>
            <a:r>
              <a:rPr lang="en-US" sz="1200" b="1" dirty="0" err="1"/>
              <a:t>street</a:t>
            </a:r>
            <a:r>
              <a:rPr lang="en-US" sz="1200" b="1" dirty="0"/>
              <a:t> → </a:t>
            </a:r>
            <a:r>
              <a:rPr lang="en-US" sz="1200" b="1" dirty="0" err="1"/>
              <a:t>building</a:t>
            </a:r>
            <a:endParaRPr lang="en-US" sz="1200" dirty="0"/>
          </a:p>
          <a:p>
            <a:r>
              <a:rPr lang="en-US" sz="1200" dirty="0" err="1"/>
              <a:t>instead of</a:t>
            </a:r>
            <a:r>
              <a:rPr lang="en-US" sz="1200" dirty="0"/>
              <a:t> </a:t>
            </a:r>
            <a:r>
              <a:rPr lang="en-US" sz="1200" dirty="0" err="1"/>
              <a:t>checking</a:t>
            </a:r>
            <a:r>
              <a:rPr lang="en-US" sz="1200" dirty="0"/>
              <a:t> </a:t>
            </a:r>
            <a:r>
              <a:rPr lang="en-US" sz="1200" dirty="0" err="1"/>
              <a:t>every</a:t>
            </a:r>
            <a:r>
              <a:rPr lang="en-US" sz="1200" dirty="0"/>
              <a:t> </a:t>
            </a:r>
            <a:r>
              <a:rPr lang="en-US" sz="1200" dirty="0" err="1"/>
              <a:t>building</a:t>
            </a:r>
            <a:r>
              <a:rPr lang="en-US" sz="1200" dirty="0"/>
              <a:t> in </a:t>
            </a:r>
            <a:r>
              <a:rPr lang="en-US" sz="1200" dirty="0" err="1"/>
              <a:t>Poland</a:t>
            </a:r>
            <a:r>
              <a:rPr lang="en-US" sz="1200" dirty="0"/>
              <a:t>.</a:t>
            </a:r>
          </a:p>
          <a:p>
            <a:endParaRPr lang="en-US" sz="1200" dirty="0"/>
          </a:p>
        </p:txBody>
      </p:sp>
      <p:sp>
        <p:nvSpPr>
          <p:cNvPr id="33" name="Dymek mowy: prostokąt z zaokrąglonymi rogami 32">
            <a:extLst>
              <a:ext uri="{FF2B5EF4-FFF2-40B4-BE49-F238E27FC236}">
                <a16:creationId xmlns:a16="http://schemas.microsoft.com/office/drawing/2014/main" id="{BACE2C7C-EBDA-15DA-B8EE-F011EAA14E28}"/>
              </a:ext>
            </a:extLst>
          </p:cNvPr>
          <p:cNvSpPr/>
          <p:nvPr/>
        </p:nvSpPr>
        <p:spPr>
          <a:xfrm>
            <a:off x="6848669" y="4609321"/>
            <a:ext cx="4444171" cy="2015414"/>
          </a:xfrm>
          <a:prstGeom prst="wedgeRoundRectCallout">
            <a:avLst>
              <a:gd name="adj1" fmla="val 1984"/>
              <a:gd name="adj2" fmla="val -6060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ANN </a:t>
            </a:r>
            <a:r>
              <a:rPr lang="pl-PL" sz="1200" dirty="0"/>
              <a:t>(</a:t>
            </a:r>
            <a:r>
              <a:rPr lang="en-US" sz="1200" dirty="0"/>
              <a:t>Approximate Nearest Neighbor</a:t>
            </a:r>
            <a:r>
              <a:rPr lang="pl-PL" sz="1200" dirty="0"/>
              <a:t>) </a:t>
            </a:r>
            <a:r>
              <a:rPr lang="en-US" sz="1200" dirty="0" err="1"/>
              <a:t>gives up</a:t>
            </a:r>
            <a:r>
              <a:rPr lang="en-US" sz="1200" dirty="0"/>
              <a:t> </a:t>
            </a:r>
            <a:r>
              <a:rPr lang="en-US" sz="1200" dirty="0" err="1"/>
              <a:t>the guarantee</a:t>
            </a:r>
            <a:r>
              <a:rPr lang="en-US" sz="1200" dirty="0"/>
              <a:t> </a:t>
            </a:r>
            <a:r>
              <a:rPr lang="en-US" sz="1200" dirty="0" err="1"/>
              <a:t>of finding</a:t>
            </a:r>
            <a:r>
              <a:rPr lang="en-US" sz="1200" dirty="0"/>
              <a:t> </a:t>
            </a:r>
            <a:r>
              <a:rPr lang="en-US" sz="1200" dirty="0" err="1"/>
              <a:t>the exact</a:t>
            </a:r>
            <a:r>
              <a:rPr lang="en-US" sz="1200" dirty="0"/>
              <a:t> </a:t>
            </a:r>
            <a:r>
              <a:rPr lang="en-US" sz="1200" dirty="0" err="1"/>
              <a:t>set</a:t>
            </a:r>
            <a:r>
              <a:rPr lang="en-US" sz="1200" dirty="0"/>
              <a:t> </a:t>
            </a:r>
            <a:r>
              <a:rPr lang="en-US" sz="1200" dirty="0" err="1"/>
              <a:t>nearest</a:t>
            </a:r>
            <a:r>
              <a:rPr lang="en-US" sz="1200" dirty="0"/>
              <a:t> </a:t>
            </a:r>
            <a:r>
              <a:rPr lang="en-US" sz="1200" dirty="0" err="1"/>
              <a:t>vectors</a:t>
            </a:r>
            <a:r>
              <a:rPr lang="en-US" sz="1200" dirty="0"/>
              <a:t> in </a:t>
            </a:r>
            <a:r>
              <a:rPr lang="en-US" sz="1200" dirty="0" err="1"/>
              <a:t>exchange</a:t>
            </a:r>
            <a:r>
              <a:rPr lang="en-US" sz="1200" dirty="0"/>
              <a:t> for </a:t>
            </a:r>
            <a:r>
              <a:rPr lang="en-US" sz="1200" dirty="0" err="1"/>
              <a:t>much</a:t>
            </a:r>
            <a:r>
              <a:rPr lang="en-US" sz="1200" dirty="0"/>
              <a:t> </a:t>
            </a:r>
            <a:r>
              <a:rPr lang="en-US" sz="1200" dirty="0" err="1"/>
              <a:t>faster</a:t>
            </a:r>
            <a:r>
              <a:rPr lang="en-US" sz="1200" dirty="0"/>
              <a:t> </a:t>
            </a:r>
            <a:r>
              <a:rPr lang="en-US" sz="1200" dirty="0" err="1"/>
              <a:t>searching</a:t>
            </a:r>
            <a:r>
              <a:rPr lang="pl-PL" sz="1200" dirty="0"/>
              <a:t>.</a:t>
            </a:r>
          </a:p>
          <a:p>
            <a:endParaRPr lang="pl-PL" sz="1200" dirty="0"/>
          </a:p>
          <a:p>
            <a:r>
              <a:rPr lang="en-US" sz="1200" dirty="0" err="1"/>
              <a:t>Therefore</a:t>
            </a:r>
            <a:r>
              <a:rPr lang="en-US" sz="1200" dirty="0"/>
              <a:t> „</a:t>
            </a:r>
            <a:r>
              <a:rPr lang="en-US" sz="1200" dirty="0" err="1"/>
              <a:t>approximate</a:t>
            </a:r>
            <a:r>
              <a:rPr lang="en-US" sz="1200" dirty="0"/>
              <a:t>” </a:t>
            </a:r>
            <a:r>
              <a:rPr lang="en-US" sz="1200" b="1" dirty="0" err="1"/>
              <a:t>does not</a:t>
            </a:r>
            <a:r>
              <a:rPr lang="en-US" sz="1200" b="1" dirty="0"/>
              <a:t> </a:t>
            </a:r>
            <a:r>
              <a:rPr lang="en-US" sz="1200" b="1" dirty="0" err="1"/>
              <a:t>mean</a:t>
            </a:r>
            <a:r>
              <a:rPr lang="en-US" sz="1200" b="1" dirty="0"/>
              <a:t>, </a:t>
            </a:r>
            <a:r>
              <a:rPr lang="en-US" sz="1200" b="1" dirty="0" err="1"/>
              <a:t>that</a:t>
            </a:r>
            <a:r>
              <a:rPr lang="en-US" sz="1200" b="1" dirty="0"/>
              <a:t> </a:t>
            </a:r>
            <a:r>
              <a:rPr lang="en-US" sz="1200" b="1" dirty="0" err="1"/>
              <a:t>pgvector</a:t>
            </a:r>
            <a:r>
              <a:rPr lang="en-US" sz="1200" b="1" dirty="0"/>
              <a:t> </a:t>
            </a:r>
            <a:r>
              <a:rPr lang="en-US" sz="1200" b="1" dirty="0" err="1"/>
              <a:t>returns</a:t>
            </a:r>
            <a:r>
              <a:rPr lang="en-US" sz="1200" b="1" dirty="0"/>
              <a:t> </a:t>
            </a:r>
            <a:r>
              <a:rPr lang="en-US" sz="1200" b="1" dirty="0" err="1"/>
              <a:t>an approximate</a:t>
            </a:r>
            <a:r>
              <a:rPr lang="en-US" sz="1200" b="1" dirty="0"/>
              <a:t> </a:t>
            </a:r>
            <a:r>
              <a:rPr lang="en-US" sz="1200" b="1" dirty="0" err="1"/>
              <a:t>value</a:t>
            </a:r>
            <a:r>
              <a:rPr lang="en-US" sz="1200" b="1" dirty="0"/>
              <a:t> </a:t>
            </a:r>
            <a:r>
              <a:rPr lang="en-US" sz="1200" b="1" dirty="0" err="1"/>
              <a:t>of the embedding</a:t>
            </a:r>
            <a:r>
              <a:rPr lang="en-US" sz="1200" b="1" dirty="0"/>
              <a:t> </a:t>
            </a:r>
            <a:r>
              <a:rPr lang="en-US" sz="1200" b="1" dirty="0" err="1"/>
              <a:t>or</a:t>
            </a:r>
            <a:r>
              <a:rPr lang="en-US" sz="1200" b="1" dirty="0"/>
              <a:t> </a:t>
            </a:r>
            <a:r>
              <a:rPr lang="en-US" sz="1200" b="1" dirty="0" err="1"/>
              <a:t>distance</a:t>
            </a:r>
            <a:r>
              <a:rPr lang="en-US" sz="1200" dirty="0"/>
              <a:t>. </a:t>
            </a:r>
            <a:r>
              <a:rPr lang="en-US" sz="1200" dirty="0" err="1"/>
              <a:t>Approximate</a:t>
            </a:r>
            <a:r>
              <a:rPr lang="en-US" sz="1200" dirty="0"/>
              <a:t> is </a:t>
            </a:r>
            <a:r>
              <a:rPr lang="en-US" sz="1200" b="1" dirty="0" err="1"/>
              <a:t>the process</a:t>
            </a:r>
            <a:r>
              <a:rPr lang="en-US" sz="1200" b="1" dirty="0"/>
              <a:t> </a:t>
            </a:r>
            <a:r>
              <a:rPr lang="en-US" sz="1200" b="1" dirty="0" err="1"/>
              <a:t>of selecting</a:t>
            </a:r>
            <a:r>
              <a:rPr lang="en-US" sz="1200" b="1" dirty="0"/>
              <a:t> </a:t>
            </a:r>
            <a:r>
              <a:rPr lang="en-US" sz="1200" b="1" dirty="0" err="1"/>
              <a:t>candidates</a:t>
            </a:r>
            <a:r>
              <a:rPr lang="en-US" sz="1200" dirty="0"/>
              <a:t> — </a:t>
            </a:r>
            <a:r>
              <a:rPr lang="en-US" sz="1200" dirty="0" err="1"/>
              <a:t>the algorithm</a:t>
            </a:r>
            <a:r>
              <a:rPr lang="en-US" sz="1200" dirty="0"/>
              <a:t> </a:t>
            </a:r>
            <a:r>
              <a:rPr lang="en-US" sz="1200" dirty="0" err="1"/>
              <a:t>can</a:t>
            </a:r>
            <a:r>
              <a:rPr lang="en-US" sz="1200" dirty="0"/>
              <a:t> </a:t>
            </a:r>
            <a:r>
              <a:rPr lang="en-US" sz="1200" dirty="0" err="1"/>
              <a:t>does not</a:t>
            </a:r>
            <a:r>
              <a:rPr lang="en-US" sz="1200" dirty="0"/>
              <a:t> </a:t>
            </a:r>
            <a:r>
              <a:rPr lang="en-US" sz="1200" dirty="0" err="1"/>
              <a:t>find</a:t>
            </a:r>
            <a:r>
              <a:rPr lang="en-US" sz="1200" dirty="0"/>
              <a:t> </a:t>
            </a:r>
            <a:r>
              <a:rPr lang="en-US" sz="1200" dirty="0" err="1"/>
              <a:t>all</a:t>
            </a:r>
            <a:r>
              <a:rPr lang="en-US" sz="1200" dirty="0"/>
              <a:t> </a:t>
            </a:r>
            <a:r>
              <a:rPr lang="en-US" sz="1200" dirty="0" err="1"/>
              <a:t>actually</a:t>
            </a:r>
            <a:r>
              <a:rPr lang="en-US" sz="1200" dirty="0"/>
              <a:t> </a:t>
            </a:r>
            <a:r>
              <a:rPr lang="en-US" sz="1200" dirty="0" err="1"/>
              <a:t>nearest</a:t>
            </a:r>
            <a:r>
              <a:rPr lang="en-US" sz="1200" dirty="0"/>
              <a:t> </a:t>
            </a:r>
            <a:r>
              <a:rPr lang="en-US" sz="1200" dirty="0" err="1"/>
              <a:t>neighbors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AND TRADE-OFF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HNSW index in pgvector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435608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article_embedding_hnsw_idx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article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hnsw (embedding vector_cosine_ops);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index change?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decreases for large datasets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2587752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index takes space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3118104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takes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648456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may be approximate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1554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comparison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&gt; 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3657600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/ HNSW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graph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&gt; </a:t>
            </a:r>
            <a:r>
              <a:rPr lang="pl-PL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71800" y="3977640"/>
            <a:ext cx="50292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index for scale and quality requirements, not simply because you use embeddings.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ADVANTAGE OF ONE POSTGRESQL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 filters + vector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943600" cy="2926080"/>
          </a:xfrm>
          <a:prstGeom prst="roundRect">
            <a:avLst>
              <a:gd name="adj" fmla="val 25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435608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content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article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company_id = :companyId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status = 'PUBLISHED'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language = 'PL'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still SQL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78040" y="224028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company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235440" y="224028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78040" y="283464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8040" y="284378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283464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5440" y="284378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time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filters and similarity work in one query.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synchronization between systems. One place for auditing and access control.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DOES NOT REPLACE EVERYTHING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Text Search and hybrid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FTS wins when the exact word matters. Vectors win when meaning matters.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73152" cy="9601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920240"/>
            <a:ext cx="2505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Text 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lexemes / ranking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18745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0" y="1874520"/>
            <a:ext cx="73152" cy="96012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59952" y="1920240"/>
            <a:ext cx="2505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/ distance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359152"/>
            <a:ext cx="1508760" cy="0"/>
          </a:xfrm>
          <a:prstGeom prst="line">
            <a:avLst/>
          </a:prstGeom>
          <a:noFill/>
          <a:ln w="27940">
            <a:solidFill>
              <a:srgbClr val="1560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 flipV="1">
            <a:off x="6949440" y="2359152"/>
            <a:ext cx="1572768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49240" y="1828800"/>
            <a:ext cx="1554480" cy="1078992"/>
          </a:xfrm>
          <a:prstGeom prst="roundRect">
            <a:avLst>
              <a:gd name="adj" fmla="val 10169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49240" y="1828800"/>
            <a:ext cx="73152" cy="107899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13832" y="1874520"/>
            <a:ext cx="131673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fusion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name, error number, exact phrase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question, paraphrase, problem description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44805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41064" y="4590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0.4 * fts_rank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+ 0.6 * semantic_score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AND VECTOR MUST STAY TOGETHER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Updating embeddings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`content` without recalculating the embedding creates an inconsistent record.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9385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article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content = :newContent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:id;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0" y="192024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1920240"/>
            <a:ext cx="73152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85232" y="1965960"/>
            <a:ext cx="140817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/ outbox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0" y="19202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0" y="192024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6992" y="1965960"/>
            <a:ext cx="168249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worker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7552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698480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98480" y="1920240"/>
            <a:ext cx="73152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63072" y="1965960"/>
            <a:ext cx="6766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practice, add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4389120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version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864608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recalculation status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248656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5157216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and idempotency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4343400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Regeneration is a data process, not a one-time migration.</a:t>
            </a:r>
            <a:endParaRPr lang="en-US" sz="2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does pgvector make sense?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256032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pgvector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separate vector DB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already lives in PostgreSQL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large vector scale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 need SQL filters and relationships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search is the main product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 want simple deployment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 need specialized ANN features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1417320"/>
            <a:ext cx="5349240" cy="5029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80760" y="1417320"/>
            <a:ext cx="5349240" cy="5029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 separate system add more value than operational cost?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C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9784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can look like ordinary SQL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0120" y="274320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98448" y="263347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generates the embedding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8448" y="313639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stores and compares vectors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3749040"/>
            <a:ext cx="146304" cy="146304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accelerates ANN search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425196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98448" y="414223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filters stay in PostgreSQL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98448" y="464515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search combines keywords and meaning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1346</Words>
  <Application>Microsoft Office PowerPoint</Application>
  <PresentationFormat>Panoramiczny</PresentationFormat>
  <Paragraphs>273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Java developers meeting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Search w Javie: PostgreSQL + pgvector bez osobnej bazy wektorowej</dc:title>
  <dc:subject>Semantic Search w Javie: PostgreSQL + pgvector</dc:subject>
  <dc:creator>OpenAI</dc:creator>
  <cp:lastModifiedBy>Krzysztof Kozlowski</cp:lastModifiedBy>
  <cp:revision>22</cp:revision>
  <dcterms:created xsi:type="dcterms:W3CDTF">2026-09-29T07:08:08Z</dcterms:created>
  <dcterms:modified xsi:type="dcterms:W3CDTF">2026-09-29T19:05:22Z</dcterms:modified>
</cp:coreProperties>
</file>