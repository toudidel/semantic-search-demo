
<file path=[Content_Types].xml><?xml version="1.0" encoding="utf-8"?>
<Types xmlns="http://schemas.openxmlformats.org/package/2006/content-types"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3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Temat: semantic search w Javie z PostgreSQL i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8A6E-8E80-823D-4F57-24F32018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C540B-80C2-067A-6942-E2749276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CAEB8-7727-5AE9-5177-0354A494B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09CE2-3CB5-E4F6-C665-7EC181A34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19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8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/ SEMANTIC SEARCH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698480" y="6501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950915" y="932689"/>
            <a:ext cx="5303520" cy="5303520"/>
          </a:xfrm>
          <a:prstGeom prst="arc">
            <a:avLst/>
          </a:prstGeom>
          <a:noFill/>
          <a:ln w="25400">
            <a:solidFill>
              <a:srgbClr val="15608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05472" y="1601402"/>
            <a:ext cx="3840480" cy="3840480"/>
          </a:xfrm>
          <a:prstGeom prst="arc">
            <a:avLst/>
          </a:prstGeom>
          <a:noFill/>
          <a:ln w="16510">
            <a:solidFill>
              <a:srgbClr val="0F9ED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640080"/>
            <a:ext cx="91440" cy="10972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207526"/>
            <a:ext cx="6583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w Javie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4056" y="2198064"/>
            <a:ext cx="7040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C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pgvector bez osobnej bazy wektorowej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5989320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pl-PL" dirty="0">
                <a:solidFill>
                  <a:srgbClr val="AF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Krzysztof Kozłowski</a:t>
            </a:r>
            <a:endParaRPr lang="en-US" dirty="0"/>
          </a:p>
        </p:txBody>
      </p:sp>
      <p:pic>
        <p:nvPicPr>
          <p:cNvPr id="11" name="Obraz 10" descr="File:Reply Logo.svg - Wikimedia Commons">
            <a:extLst>
              <a:ext uri="{FF2B5EF4-FFF2-40B4-BE49-F238E27FC236}">
                <a16:creationId xmlns:a16="http://schemas.microsoft.com/office/drawing/2014/main" id="{0915D1F2-DF35-6F60-AC93-567C3A574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5020740"/>
            <a:ext cx="4390844" cy="1169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PUNKT WYJŚCIA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Pytanie, na które odpowiadamy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5039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znaleźć dokument, gdy użytkownik używa innych słów niż autor?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Zapytanie użytkownika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399" y="2761488"/>
            <a:ext cx="473995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„aplikacja ma za mało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połączeń do bazy”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Treść dokumentu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761488"/>
            <a:ext cx="4389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„Konfiguracja HikariCP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wyczerpanie puli”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952744" y="3429000"/>
            <a:ext cx="402336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76672" y="3548045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znaczenie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 ma rozpoznać, że te dwa teksty dotyczą tego samego problemu.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DWA RÓŻNE SYGNAŁY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Keyword search vs semantic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Słowa znajdują dopasowanie. Embeddingi znajdują podobieństwo znaczenia.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24028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Keyword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Semantic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ILIKE / FTS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wektor + metryka odległości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„HikariCP” musi wystąpić w tekście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wiąże „pula połączeń” z HikariCP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świetne dla nazw, kodów i fraz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dobre dla pytań i parafraz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783080"/>
            <a:ext cx="544068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80760" y="1783080"/>
            <a:ext cx="5440680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Używaj razem, gdy liczy się </a:t>
            </a:r>
            <a:r>
              <a:rPr lang="en-US" sz="2200" b="1" dirty="0" err="1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b="1" dirty="0" err="1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precyzja</a:t>
            </a: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 sens.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REPREZENTACJA ZNACZENIA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18686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zamienia tekst na punkt w przestrzeni liczb.</a:t>
            </a:r>
            <a:endParaRPr lang="en-US" sz="2000" dirty="0"/>
          </a:p>
        </p:txBody>
      </p:sp>
      <p:grpSp>
        <p:nvGrpSpPr>
          <p:cNvPr id="30" name="Grupa 29">
            <a:extLst>
              <a:ext uri="{FF2B5EF4-FFF2-40B4-BE49-F238E27FC236}">
                <a16:creationId xmlns:a16="http://schemas.microsoft.com/office/drawing/2014/main" id="{A291708E-5AA6-FAA4-50F2-F341CD1115A1}"/>
              </a:ext>
            </a:extLst>
          </p:cNvPr>
          <p:cNvGrpSpPr/>
          <p:nvPr/>
        </p:nvGrpSpPr>
        <p:grpSpPr>
          <a:xfrm>
            <a:off x="609600" y="1974112"/>
            <a:ext cx="10972799" cy="1572925"/>
            <a:chOff x="731520" y="1664208"/>
            <a:chExt cx="9601200" cy="987552"/>
          </a:xfrm>
        </p:grpSpPr>
        <p:sp>
          <p:nvSpPr>
            <p:cNvPr id="5" name="Shape 3"/>
            <p:cNvSpPr/>
            <p:nvPr/>
          </p:nvSpPr>
          <p:spPr>
            <a:xfrm>
              <a:off x="731520" y="1828800"/>
              <a:ext cx="2880360" cy="658368"/>
            </a:xfrm>
            <a:prstGeom prst="roundRect">
              <a:avLst>
                <a:gd name="adj" fmla="val 16667"/>
              </a:avLst>
            </a:prstGeom>
            <a:solidFill>
              <a:srgbClr val="E8F1F7"/>
            </a:solidFill>
            <a:ln w="12700">
              <a:solidFill>
                <a:srgbClr val="15608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828800"/>
              <a:ext cx="73152" cy="658368"/>
            </a:xfrm>
            <a:prstGeom prst="rect">
              <a:avLst/>
            </a:prstGeom>
            <a:solidFill>
              <a:srgbClr val="156082"/>
            </a:solidFill>
            <a:ln w="12700">
              <a:solidFill>
                <a:srgbClr val="15608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96112" y="1874520"/>
              <a:ext cx="2670048" cy="56692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„</a:t>
              </a:r>
              <a:r>
                <a:rPr lang="en-US" sz="1400" b="1" dirty="0" err="1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HikariCP</a:t>
              </a: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pl-PL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 pula połączeń JDBC</a:t>
              </a: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”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840480" y="2148840"/>
              <a:ext cx="502920" cy="0"/>
            </a:xfrm>
            <a:prstGeom prst="line">
              <a:avLst/>
            </a:prstGeom>
            <a:noFill/>
            <a:ln w="27940">
              <a:solidFill>
                <a:srgbClr val="E971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480560" y="1664208"/>
              <a:ext cx="1920240" cy="987552"/>
            </a:xfrm>
            <a:prstGeom prst="roundRect">
              <a:avLst>
                <a:gd name="adj" fmla="val 11111"/>
              </a:avLst>
            </a:prstGeom>
            <a:solidFill>
              <a:srgbClr val="FFF1E8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480560" y="1664208"/>
              <a:ext cx="73152" cy="987552"/>
            </a:xfrm>
            <a:prstGeom prst="rect">
              <a:avLst/>
            </a:prstGeom>
            <a:solidFill>
              <a:srgbClr val="E97132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645152" y="1709928"/>
              <a:ext cx="1682496" cy="89611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embeddingowy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537960" y="2148840"/>
              <a:ext cx="685800" cy="0"/>
            </a:xfrm>
            <a:prstGeom prst="line">
              <a:avLst/>
            </a:prstGeom>
            <a:noFill/>
            <a:ln w="27940">
              <a:solidFill>
                <a:srgbClr val="E971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7360920" y="1664208"/>
              <a:ext cx="2971800" cy="987552"/>
            </a:xfrm>
            <a:prstGeom prst="roundRect">
              <a:avLst>
                <a:gd name="adj" fmla="val 7407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7507224" y="1773936"/>
              <a:ext cx="269748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[0.021, -0.143,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0.761, …, 0.118]</a:t>
              </a:r>
              <a:endParaRPr lang="en-US" sz="1300" dirty="0"/>
            </a:p>
          </p:txBody>
        </p:sp>
      </p:grp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FC3721EA-207D-405A-49D4-8920D96AFDE3}"/>
              </a:ext>
            </a:extLst>
          </p:cNvPr>
          <p:cNvSpPr/>
          <p:nvPr/>
        </p:nvSpPr>
        <p:spPr>
          <a:xfrm>
            <a:off x="1184988" y="4447903"/>
            <a:ext cx="9283959" cy="2090057"/>
          </a:xfrm>
          <a:prstGeom prst="wedgeRoundRectCallout">
            <a:avLst>
              <a:gd name="adj1" fmla="val -1938"/>
              <a:gd name="adj2" fmla="val -7410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l-PL" sz="1600" b="1" dirty="0"/>
          </a:p>
          <a:p>
            <a:r>
              <a:rPr lang="en-US" sz="1600" b="1" dirty="0"/>
              <a:t>Embedding</a:t>
            </a:r>
            <a:r>
              <a:rPr lang="en-US" sz="1600" dirty="0"/>
              <a:t> to </a:t>
            </a:r>
            <a:r>
              <a:rPr lang="en-US" sz="1600" dirty="0" err="1"/>
              <a:t>numeryczna</a:t>
            </a:r>
            <a:r>
              <a:rPr lang="en-US" sz="1600" dirty="0"/>
              <a:t> </a:t>
            </a:r>
            <a:r>
              <a:rPr lang="en-US" sz="1600" dirty="0" err="1"/>
              <a:t>reprezentacja</a:t>
            </a:r>
            <a:r>
              <a:rPr lang="en-US" sz="1600" dirty="0"/>
              <a:t> </a:t>
            </a:r>
            <a:r>
              <a:rPr lang="en-US" sz="1600" dirty="0" err="1"/>
              <a:t>znaczenia</a:t>
            </a:r>
            <a:r>
              <a:rPr lang="en-US" sz="1600" dirty="0"/>
              <a:t> </a:t>
            </a:r>
            <a:r>
              <a:rPr lang="en-US" sz="1600" dirty="0" err="1"/>
              <a:t>danych</a:t>
            </a:r>
            <a:r>
              <a:rPr lang="en-US" sz="1600" dirty="0"/>
              <a:t> — np. </a:t>
            </a:r>
            <a:r>
              <a:rPr lang="en-US" sz="1600" dirty="0" err="1"/>
              <a:t>tekstu</a:t>
            </a:r>
            <a:r>
              <a:rPr lang="en-US" sz="1600" dirty="0"/>
              <a:t>, </a:t>
            </a:r>
            <a:r>
              <a:rPr lang="en-US" sz="1600" dirty="0" err="1"/>
              <a:t>obrazu</a:t>
            </a:r>
            <a:r>
              <a:rPr lang="en-US" sz="1600" dirty="0"/>
              <a:t> </a:t>
            </a:r>
            <a:r>
              <a:rPr lang="en-US" sz="1600" dirty="0" err="1"/>
              <a:t>albo</a:t>
            </a:r>
            <a:r>
              <a:rPr lang="en-US" sz="1600" dirty="0"/>
              <a:t> </a:t>
            </a:r>
            <a:r>
              <a:rPr lang="en-US" sz="1600" dirty="0" err="1"/>
              <a:t>dźwięku</a:t>
            </a:r>
            <a:r>
              <a:rPr lang="en-US" sz="1600" dirty="0"/>
              <a:t> —</a:t>
            </a:r>
            <a:endParaRPr lang="pl-PL" sz="1600" dirty="0"/>
          </a:p>
          <a:p>
            <a:r>
              <a:rPr lang="en-US" sz="1600" dirty="0"/>
              <a:t>w </a:t>
            </a:r>
            <a:r>
              <a:rPr lang="en-US" sz="1600" dirty="0" err="1"/>
              <a:t>postaci</a:t>
            </a:r>
            <a:r>
              <a:rPr lang="en-US" sz="1600" dirty="0"/>
              <a:t> </a:t>
            </a:r>
            <a:r>
              <a:rPr lang="en-US" sz="1600" b="1" dirty="0" err="1"/>
              <a:t>wektora</a:t>
            </a:r>
            <a:r>
              <a:rPr lang="en-US" sz="1600" b="1" dirty="0"/>
              <a:t> </a:t>
            </a:r>
            <a:r>
              <a:rPr lang="en-US" sz="1600" b="1" dirty="0" err="1"/>
              <a:t>liczb</a:t>
            </a:r>
            <a:r>
              <a:rPr lang="en-US" sz="1600" dirty="0"/>
              <a:t>.</a:t>
            </a:r>
          </a:p>
          <a:p>
            <a:endParaRPr lang="pl-PL" sz="1600" dirty="0"/>
          </a:p>
          <a:p>
            <a:r>
              <a:rPr lang="en-US" sz="1600" dirty="0" err="1"/>
              <a:t>Przykładowo</a:t>
            </a:r>
            <a:r>
              <a:rPr lang="en-US" sz="1600" dirty="0"/>
              <a:t> model </a:t>
            </a:r>
            <a:r>
              <a:rPr lang="en-US" sz="1600" dirty="0" err="1"/>
              <a:t>embeddingowy</a:t>
            </a:r>
            <a:r>
              <a:rPr lang="en-US" sz="1600" dirty="0"/>
              <a:t> </a:t>
            </a:r>
            <a:r>
              <a:rPr lang="en-US" sz="1600" dirty="0" err="1"/>
              <a:t>może</a:t>
            </a:r>
            <a:r>
              <a:rPr lang="en-US" sz="1600" dirty="0"/>
              <a:t> </a:t>
            </a:r>
            <a:r>
              <a:rPr lang="en-US" sz="1600" dirty="0" err="1"/>
              <a:t>zamienić</a:t>
            </a:r>
            <a:r>
              <a:rPr lang="en-US" sz="1600" dirty="0"/>
              <a:t> </a:t>
            </a:r>
            <a:r>
              <a:rPr lang="en-US" sz="1600" dirty="0" err="1"/>
              <a:t>słowa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coś</a:t>
            </a:r>
            <a:r>
              <a:rPr lang="en-US" sz="1600" dirty="0"/>
              <a:t> </a:t>
            </a:r>
            <a:r>
              <a:rPr lang="en-US" sz="1600" dirty="0" err="1"/>
              <a:t>takiego</a:t>
            </a:r>
            <a:r>
              <a:rPr lang="en-US" sz="1600" dirty="0"/>
              <a:t>:</a:t>
            </a:r>
          </a:p>
          <a:p>
            <a:r>
              <a:rPr lang="en-US" sz="1600" dirty="0"/>
              <a:t>"pies"       → [0.12, 0.84, -0.31, ...]</a:t>
            </a:r>
          </a:p>
          <a:p>
            <a:r>
              <a:rPr lang="en-US" sz="1600" dirty="0"/>
              <a:t>"</a:t>
            </a:r>
            <a:r>
              <a:rPr lang="en-US" sz="1600" dirty="0" err="1"/>
              <a:t>szczeniak</a:t>
            </a:r>
            <a:r>
              <a:rPr lang="en-US" sz="1600" dirty="0"/>
              <a:t>"  → [0.15, 0.79, -0.28, ...]</a:t>
            </a:r>
          </a:p>
          <a:p>
            <a:r>
              <a:rPr lang="en-US" sz="1600" dirty="0"/>
              <a:t>"</a:t>
            </a:r>
            <a:r>
              <a:rPr lang="en-US" sz="1600" dirty="0" err="1"/>
              <a:t>samochód</a:t>
            </a:r>
            <a:r>
              <a:rPr lang="en-US" sz="1600" dirty="0"/>
              <a:t>"   → [-0.72, 0.11, 0.63, ...]</a:t>
            </a:r>
          </a:p>
          <a:p>
            <a:pPr algn="ctr"/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A9E29-BBF4-4820-9308-F8B85A4C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4A4020-BE20-89B6-7D3D-A1B18E77B412}"/>
              </a:ext>
            </a:extLst>
          </p:cNvPr>
          <p:cNvSpPr/>
          <p:nvPr/>
        </p:nvSpPr>
        <p:spPr>
          <a:xfrm>
            <a:off x="366744" y="2196596"/>
            <a:ext cx="2880828" cy="966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Embeddingi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63AB1F-AA39-1E5D-9672-862CEFF284DE}"/>
              </a:ext>
            </a:extLst>
          </p:cNvPr>
          <p:cNvSpPr/>
          <p:nvPr/>
        </p:nvSpPr>
        <p:spPr>
          <a:xfrm>
            <a:off x="366744" y="3042019"/>
            <a:ext cx="3253534" cy="10447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Bliskie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znaczenia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są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blisko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siebie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w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przestrzeni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wektorowej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AEF750C7-1512-D4C1-5AA4-4937BFC1B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017407"/>
            <a:ext cx="7225748" cy="48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6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TEKSTU DO WYNIKÓW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rozwiązania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698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nie generuje embeddingów. Przechowuje, indeksuje i porównuje wektory.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177393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 dokumentu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lub zapytanie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2057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76472" y="2103120"/>
            <a:ext cx="15910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serwis lokalny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205740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2103120"/>
            <a:ext cx="13624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float[]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06840" y="20574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195681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pgvector</a:t>
            </a:r>
            <a:endParaRPr lang="en-US" sz="1400" dirty="0"/>
          </a:p>
        </p:txBody>
      </p:sp>
      <p:grpSp>
        <p:nvGrpSpPr>
          <p:cNvPr id="29" name="Grupa 28">
            <a:extLst>
              <a:ext uri="{FF2B5EF4-FFF2-40B4-BE49-F238E27FC236}">
                <a16:creationId xmlns:a16="http://schemas.microsoft.com/office/drawing/2014/main" id="{BE2BC960-1D84-1243-5B26-0DFE4EBE120B}"/>
              </a:ext>
            </a:extLst>
          </p:cNvPr>
          <p:cNvGrpSpPr/>
          <p:nvPr/>
        </p:nvGrpSpPr>
        <p:grpSpPr>
          <a:xfrm>
            <a:off x="640080" y="4480560"/>
            <a:ext cx="10332720" cy="1737360"/>
            <a:chOff x="640080" y="3886200"/>
            <a:chExt cx="10332720" cy="1737360"/>
          </a:xfrm>
        </p:grpSpPr>
        <p:sp>
          <p:nvSpPr>
            <p:cNvPr id="20" name="Text 18"/>
            <p:cNvSpPr/>
            <p:nvPr/>
          </p:nvSpPr>
          <p:spPr>
            <a:xfrm>
              <a:off x="640080" y="3886200"/>
              <a:ext cx="640080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E971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Java spina te elementy w jeden przepływ aplikacyjny.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31520" y="4480560"/>
              <a:ext cx="5212080" cy="1143000"/>
            </a:xfrm>
            <a:prstGeom prst="roundRect">
              <a:avLst>
                <a:gd name="adj" fmla="val 6400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877824" y="4590288"/>
              <a:ext cx="493776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GET /search?q=problem+z+pulą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↓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EmbeddingService → SQL → top K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0" y="4480560"/>
              <a:ext cx="4572000" cy="1143000"/>
            </a:xfrm>
            <a:prstGeom prst="roundRect">
              <a:avLst>
                <a:gd name="adj" fmla="val 6400"/>
              </a:avLst>
            </a:prstGeom>
            <a:solidFill>
              <a:srgbClr val="0E2841"/>
            </a:solidFill>
            <a:ln w="12700">
              <a:solidFill>
                <a:srgbClr val="0E28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547104" y="4590288"/>
              <a:ext cx="429768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article(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title TEXT,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content TEXT,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embedding VECTOR(1024)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4F7F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3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0" name="Dymek mowy: prostokąt z zaokrąglonymi rogami 29">
            <a:extLst>
              <a:ext uri="{FF2B5EF4-FFF2-40B4-BE49-F238E27FC236}">
                <a16:creationId xmlns:a16="http://schemas.microsoft.com/office/drawing/2014/main" id="{24D011C7-D8DA-B0CF-59CD-D1C942DD60EA}"/>
              </a:ext>
            </a:extLst>
          </p:cNvPr>
          <p:cNvSpPr/>
          <p:nvPr/>
        </p:nvSpPr>
        <p:spPr>
          <a:xfrm>
            <a:off x="1550748" y="3340950"/>
            <a:ext cx="3355848" cy="978034"/>
          </a:xfrm>
          <a:prstGeom prst="wedgeRoundRectCallout">
            <a:avLst>
              <a:gd name="adj1" fmla="val 39269"/>
              <a:gd name="adj2" fmla="val -7297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BGE-M3</a:t>
            </a:r>
            <a:r>
              <a:rPr lang="en-US" sz="1200" dirty="0"/>
              <a:t> to model </a:t>
            </a:r>
            <a:r>
              <a:rPr lang="en-US" sz="1200" dirty="0" err="1"/>
              <a:t>embeddingowy</a:t>
            </a:r>
            <a:r>
              <a:rPr lang="en-US" sz="1200" dirty="0"/>
              <a:t> </a:t>
            </a:r>
            <a:r>
              <a:rPr lang="en-US" sz="1200" dirty="0" err="1"/>
              <a:t>stworzony</a:t>
            </a:r>
            <a:r>
              <a:rPr lang="en-US" sz="1200" dirty="0"/>
              <a:t> </a:t>
            </a:r>
            <a:r>
              <a:rPr lang="en-US" sz="1200" dirty="0" err="1"/>
              <a:t>przez</a:t>
            </a:r>
            <a:r>
              <a:rPr lang="en-US" sz="1200" dirty="0"/>
              <a:t> </a:t>
            </a:r>
            <a:r>
              <a:rPr lang="en-US" sz="1200" b="1" dirty="0"/>
              <a:t>BAAI</a:t>
            </a:r>
            <a:r>
              <a:rPr lang="en-US" sz="1200" dirty="0"/>
              <a:t> (Beijing Academy of Artificial Intelligence). </a:t>
            </a:r>
            <a:r>
              <a:rPr lang="en-US" sz="1200" dirty="0" err="1"/>
              <a:t>Jego</a:t>
            </a:r>
            <a:r>
              <a:rPr lang="en-US" sz="1200" dirty="0"/>
              <a:t> </a:t>
            </a:r>
            <a:r>
              <a:rPr lang="en-US" sz="1200" dirty="0" err="1"/>
              <a:t>zadaniem</a:t>
            </a:r>
            <a:r>
              <a:rPr lang="en-US" sz="1200" dirty="0"/>
              <a:t> jest m.in. </a:t>
            </a:r>
            <a:r>
              <a:rPr lang="en-US" sz="1200" dirty="0" err="1"/>
              <a:t>zamiana</a:t>
            </a:r>
            <a:r>
              <a:rPr lang="en-US" sz="1200" dirty="0"/>
              <a:t> </a:t>
            </a:r>
            <a:r>
              <a:rPr lang="en-US" sz="1200" dirty="0" err="1"/>
              <a:t>tekstu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embedding</a:t>
            </a:r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B211EAAB-39B2-5149-18C2-FB5F268B8C87}"/>
              </a:ext>
            </a:extLst>
          </p:cNvPr>
          <p:cNvSpPr/>
          <p:nvPr/>
        </p:nvSpPr>
        <p:spPr>
          <a:xfrm>
            <a:off x="7146036" y="3340950"/>
            <a:ext cx="3355848" cy="978034"/>
          </a:xfrm>
          <a:prstGeom prst="wedgeRoundRectCallout">
            <a:avLst>
              <a:gd name="adj1" fmla="val 39269"/>
              <a:gd name="adj2" fmla="val -7297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 err="1"/>
              <a:t>pgvector</a:t>
            </a:r>
            <a:r>
              <a:rPr lang="en-US" sz="1200" dirty="0"/>
              <a:t> = </a:t>
            </a:r>
            <a:r>
              <a:rPr lang="en-US" sz="1200" dirty="0" err="1"/>
              <a:t>rozszerzenie</a:t>
            </a:r>
            <a:r>
              <a:rPr lang="en-US" sz="1200" dirty="0"/>
              <a:t> PostgreSQL </a:t>
            </a:r>
            <a:r>
              <a:rPr lang="en-US" sz="1200" dirty="0" err="1"/>
              <a:t>umożliwiające</a:t>
            </a:r>
            <a:r>
              <a:rPr lang="en-US" sz="1200" dirty="0"/>
              <a:t> </a:t>
            </a:r>
            <a:r>
              <a:rPr lang="en-US" sz="1200" dirty="0" err="1"/>
              <a:t>przechowywanie</a:t>
            </a:r>
            <a:r>
              <a:rPr lang="en-US" sz="1200" dirty="0"/>
              <a:t> </a:t>
            </a:r>
            <a:r>
              <a:rPr lang="en-US" sz="1200" dirty="0" err="1"/>
              <a:t>embeddingów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wyszukiwanie</a:t>
            </a:r>
            <a:r>
              <a:rPr lang="en-US" sz="1200" dirty="0"/>
              <a:t> </a:t>
            </a:r>
            <a:r>
              <a:rPr lang="en-US" sz="1200" dirty="0" err="1"/>
              <a:t>danych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podstawie</a:t>
            </a:r>
            <a:r>
              <a:rPr lang="en-US" sz="1200" dirty="0"/>
              <a:t> </a:t>
            </a:r>
            <a:r>
              <a:rPr lang="en-US" sz="1200" dirty="0" err="1"/>
              <a:t>podobieństwa</a:t>
            </a:r>
            <a:r>
              <a:rPr lang="en-US" sz="1200" dirty="0"/>
              <a:t> </a:t>
            </a:r>
            <a:r>
              <a:rPr lang="en-US" sz="1200" dirty="0" err="1"/>
              <a:t>semantycznego</a:t>
            </a:r>
            <a:endParaRPr lang="en-US" sz="1200" dirty="0">
              <a:solidFill>
                <a:srgbClr val="F4F7FA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MINIMALNA KONFIGURACJA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+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527048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EXTENSION IF NOT EXISTS vector;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article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BIGSERIAL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 VECTOR(1024)</a:t>
            </a:r>
            <a:r>
              <a:rPr lang="pl-PL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>
              <a:buNone/>
            </a:pPr>
            <a:r>
              <a:rPr lang="pl-PL" sz="1400" dirty="0">
                <a:solidFill>
                  <a:srgbClr val="F4F7FA"/>
                </a:solidFill>
                <a:latin typeface="Consolas" pitchFamily="34" charset="0"/>
              </a:rPr>
              <a:t>    </a:t>
            </a:r>
            <a:r>
              <a:rPr lang="pl-PL" sz="1400" dirty="0" err="1">
                <a:solidFill>
                  <a:srgbClr val="F4F7FA"/>
                </a:solidFill>
                <a:latin typeface="Consolas" pitchFamily="34" charset="0"/>
              </a:rPr>
              <a:t>search_tsv</a:t>
            </a:r>
            <a:r>
              <a:rPr lang="pl-PL" sz="1400" dirty="0">
                <a:solidFill>
                  <a:srgbClr val="F4F7FA"/>
                </a:solidFill>
                <a:latin typeface="Consolas" pitchFamily="34" charset="0"/>
              </a:rPr>
              <a:t> TSVECTOR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122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dostajemy w jednym modelu danych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2148840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 i relacje w PostgreSQL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770632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78040" y="2660904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kolumna wektorowa obok danych domenowych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3392424"/>
            <a:ext cx="164592" cy="16459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8040" y="3282696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do filtrowania i rankingu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4014216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3904488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jeden backup, monitoring i deployment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615161"/>
            <a:ext cx="484818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Wymiar VECTOR(1024) musi odpowiadać wymiarowi modelu.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6" name="Dymek mowy: prostokąt z zaokrąglonymi rogami 15">
            <a:extLst>
              <a:ext uri="{FF2B5EF4-FFF2-40B4-BE49-F238E27FC236}">
                <a16:creationId xmlns:a16="http://schemas.microsoft.com/office/drawing/2014/main" id="{5E522EE1-BC5F-0CB7-644F-20AA5C965FA8}"/>
              </a:ext>
            </a:extLst>
          </p:cNvPr>
          <p:cNvSpPr/>
          <p:nvPr/>
        </p:nvSpPr>
        <p:spPr>
          <a:xfrm>
            <a:off x="7178040" y="4895272"/>
            <a:ext cx="3591353" cy="1578553"/>
          </a:xfrm>
          <a:prstGeom prst="wedgeRoundRectCallout">
            <a:avLst>
              <a:gd name="adj1" fmla="val -161908"/>
              <a:gd name="adj2" fmla="val -13870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 err="1"/>
              <a:t>Kolumna</a:t>
            </a:r>
            <a:r>
              <a:rPr lang="en-US" sz="1200" dirty="0"/>
              <a:t> </a:t>
            </a:r>
            <a:r>
              <a:rPr lang="en-US" sz="1200" dirty="0" err="1"/>
              <a:t>typu</a:t>
            </a:r>
            <a:r>
              <a:rPr lang="en-US" sz="1200" dirty="0"/>
              <a:t> </a:t>
            </a:r>
            <a:r>
              <a:rPr lang="en-US" sz="1200" b="1" dirty="0"/>
              <a:t>TSVECTOR</a:t>
            </a:r>
            <a:r>
              <a:rPr lang="en-US" sz="1200" dirty="0"/>
              <a:t> </a:t>
            </a:r>
            <a:r>
              <a:rPr lang="en-US" sz="1200" dirty="0" err="1"/>
              <a:t>służy</a:t>
            </a:r>
            <a:r>
              <a:rPr lang="en-US" sz="1200" dirty="0"/>
              <a:t> w PostgreSQL do </a:t>
            </a:r>
            <a:r>
              <a:rPr lang="en-US" sz="1200" dirty="0" err="1"/>
              <a:t>klasycznego</a:t>
            </a:r>
            <a:r>
              <a:rPr lang="en-US" sz="1200" dirty="0"/>
              <a:t> </a:t>
            </a:r>
            <a:r>
              <a:rPr lang="en-US" sz="1200" b="1" dirty="0"/>
              <a:t>Full-Text Search (FTS)</a:t>
            </a:r>
            <a:r>
              <a:rPr lang="pl-PL" sz="1200" b="1" dirty="0"/>
              <a:t>.</a:t>
            </a:r>
          </a:p>
          <a:p>
            <a:endParaRPr lang="pl-PL" sz="1200" b="1" dirty="0"/>
          </a:p>
          <a:p>
            <a:r>
              <a:rPr lang="en-US" sz="1200" dirty="0"/>
              <a:t>PostgreSQL m.in. </a:t>
            </a:r>
            <a:r>
              <a:rPr lang="en-US" sz="1200" dirty="0" err="1"/>
              <a:t>rozbija</a:t>
            </a:r>
            <a:r>
              <a:rPr lang="en-US" sz="1200" dirty="0"/>
              <a:t> </a:t>
            </a:r>
            <a:r>
              <a:rPr lang="en-US" sz="1200" dirty="0" err="1"/>
              <a:t>tekst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tokeny</a:t>
            </a:r>
            <a:r>
              <a:rPr lang="en-US" sz="1200" dirty="0"/>
              <a:t>, </a:t>
            </a:r>
            <a:r>
              <a:rPr lang="en-US" sz="1200" dirty="0" err="1"/>
              <a:t>usuwa</a:t>
            </a:r>
            <a:r>
              <a:rPr lang="en-US" sz="1200" dirty="0"/>
              <a:t> </a:t>
            </a:r>
            <a:r>
              <a:rPr lang="en-US" sz="1200" dirty="0" err="1"/>
              <a:t>część</a:t>
            </a:r>
            <a:r>
              <a:rPr lang="en-US" sz="1200" dirty="0"/>
              <a:t> </a:t>
            </a:r>
            <a:r>
              <a:rPr lang="en-US" sz="1200" dirty="0" err="1"/>
              <a:t>nieistotnych</a:t>
            </a:r>
            <a:r>
              <a:rPr lang="en-US" sz="1200" dirty="0"/>
              <a:t> </a:t>
            </a:r>
            <a:r>
              <a:rPr lang="en-US" sz="1200" dirty="0" err="1"/>
              <a:t>słów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sprowadza</a:t>
            </a:r>
            <a:r>
              <a:rPr lang="en-US" sz="1200" dirty="0"/>
              <a:t> </a:t>
            </a:r>
            <a:r>
              <a:rPr lang="en-US" sz="1200" dirty="0" err="1"/>
              <a:t>wyrazy</a:t>
            </a:r>
            <a:r>
              <a:rPr lang="en-US" sz="1200" dirty="0"/>
              <a:t> do form </a:t>
            </a:r>
            <a:r>
              <a:rPr lang="en-US" sz="1200" dirty="0" err="1"/>
              <a:t>pozwalających</a:t>
            </a:r>
            <a:r>
              <a:rPr lang="en-US" sz="1200" dirty="0"/>
              <a:t> </a:t>
            </a:r>
            <a:r>
              <a:rPr lang="en-US" sz="1200" dirty="0" err="1"/>
              <a:t>skuteczniej</a:t>
            </a:r>
            <a:r>
              <a:rPr lang="en-US" sz="1200" dirty="0"/>
              <a:t> je </a:t>
            </a:r>
            <a:r>
              <a:rPr lang="en-US" sz="1200" dirty="0" err="1"/>
              <a:t>wyszukiwać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WARSTWA APLIKACYJNA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Generowanie embeddingów w Javie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Najważniejszy kontrakt jest mały. Model można później wymienić.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801368"/>
            <a:ext cx="5852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EmbeddingClient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 embed(String text);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ArticleService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pl-PL" sz="1200" dirty="0">
              <a:solidFill>
                <a:srgbClr val="F4F7F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pl-PL" sz="1200" dirty="0">
                <a:solidFill>
                  <a:srgbClr val="F4F7FA"/>
                </a:solidFill>
                <a:latin typeface="Consolas" pitchFamily="34" charset="0"/>
              </a:rPr>
              <a:t> 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public long create(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CreateArticleRequest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request) {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textToEmbed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=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request.title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 + "\n" +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request.content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embedding =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embeddingClient.embed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textToEmbed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var article =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   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repository.save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        new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ArticleEntity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request.title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request.content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</a:t>
            </a:r>
            <a:r>
              <a:rPr lang="pl-PL" sz="1200" dirty="0">
                <a:solidFill>
                  <a:srgbClr val="F4F7FA"/>
                </a:solidFill>
                <a:latin typeface="Consolas" pitchFamily="34" charset="0"/>
              </a:rPr>
              <a:t>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request.category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(), embedding));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  return </a:t>
            </a:r>
            <a:r>
              <a:rPr lang="en-US" sz="1200" dirty="0" err="1">
                <a:solidFill>
                  <a:srgbClr val="F4F7FA"/>
                </a:solidFill>
                <a:latin typeface="Consolas" pitchFamily="34" charset="0"/>
              </a:rPr>
              <a:t>article.getId</a:t>
            </a: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();</a:t>
            </a:r>
            <a:br>
              <a:rPr lang="en-US" sz="1200" dirty="0">
                <a:solidFill>
                  <a:srgbClr val="F4F7FA"/>
                </a:solidFill>
                <a:latin typeface="Consolas" pitchFamily="34" charset="0"/>
              </a:rPr>
            </a:br>
            <a:r>
              <a:rPr lang="en-US" sz="1200" dirty="0">
                <a:solidFill>
                  <a:srgbClr val="F4F7FA"/>
                </a:solidFill>
                <a:latin typeface="Consolas" pitchFamily="34" charset="0"/>
              </a:rPr>
              <a:t>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35240" y="201168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35240" y="2020824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3524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lokalny serwis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wielojęzyczny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Alternatywa: Spring AI</a:t>
            </a:r>
            <a:r>
              <a:rPr lang="pl-PL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</a:t>
            </a:r>
            <a:r>
              <a:rPr lang="en-US" sz="1500" dirty="0" err="1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zewnętrzne</a:t>
            </a: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615" y="5671146"/>
            <a:ext cx="6126479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prezentacji ważne jest rozdzielenie: model ≠ baza wektorowa.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WYSZUKIWANIE PO ODLEGŁOŚCI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Similarity search w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6583680" cy="2377440"/>
          </a:xfrm>
          <a:prstGeom prst="roundRect">
            <a:avLst>
              <a:gd name="adj" fmla="val 3077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2104" y="1435608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embedding &lt;=&gt; :query_embedding AS distance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:category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:query_embedding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Operatory pgvector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87452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1938528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4964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distance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496312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&lt;#&gt;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inner product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3118104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3182112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distance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483732"/>
            <a:ext cx="599491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 indeksu używamy tej samej metryki, co w zapytaniu.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F5D643CB-7D0B-770D-F5C2-9CD5D2F12D1F}"/>
              </a:ext>
            </a:extLst>
          </p:cNvPr>
          <p:cNvSpPr/>
          <p:nvPr/>
        </p:nvSpPr>
        <p:spPr>
          <a:xfrm>
            <a:off x="7020353" y="4078784"/>
            <a:ext cx="4501087" cy="2418308"/>
          </a:xfrm>
          <a:prstGeom prst="wedgeRoundRectCallout">
            <a:avLst>
              <a:gd name="adj1" fmla="val -2176"/>
              <a:gd name="adj2" fmla="val -6482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Euclidean distance</a:t>
            </a:r>
            <a:r>
              <a:rPr lang="en-US" sz="1200" dirty="0"/>
              <a:t> </a:t>
            </a:r>
            <a:r>
              <a:rPr lang="en-US" sz="1200" dirty="0" err="1"/>
              <a:t>mierzy</a:t>
            </a:r>
            <a:r>
              <a:rPr lang="en-US" sz="1200" dirty="0"/>
              <a:t> </a:t>
            </a:r>
            <a:r>
              <a:rPr lang="en-US" sz="1200" dirty="0" err="1"/>
              <a:t>fizyczną</a:t>
            </a:r>
            <a:r>
              <a:rPr lang="en-US" sz="1200" dirty="0"/>
              <a:t> </a:t>
            </a:r>
            <a:r>
              <a:rPr lang="en-US" sz="1200" dirty="0" err="1"/>
              <a:t>odległość</a:t>
            </a:r>
            <a:r>
              <a:rPr lang="en-US" sz="1200" dirty="0"/>
              <a:t> </a:t>
            </a:r>
            <a:r>
              <a:rPr lang="en-US" sz="1200" dirty="0" err="1"/>
              <a:t>między</a:t>
            </a:r>
            <a:r>
              <a:rPr lang="en-US" sz="1200" dirty="0"/>
              <a:t> </a:t>
            </a:r>
            <a:r>
              <a:rPr lang="en-US" sz="1200" dirty="0" err="1"/>
              <a:t>punktami</a:t>
            </a:r>
            <a:r>
              <a:rPr lang="en-US" sz="1200" dirty="0"/>
              <a:t> w </a:t>
            </a:r>
            <a:r>
              <a:rPr lang="en-US" sz="1200" dirty="0" err="1"/>
              <a:t>przestrzeni</a:t>
            </a:r>
            <a:r>
              <a:rPr lang="pl-PL" sz="1200" dirty="0"/>
              <a:t>.</a:t>
            </a:r>
          </a:p>
          <a:p>
            <a:endParaRPr lang="pl-PL" sz="1200" dirty="0"/>
          </a:p>
          <a:p>
            <a:r>
              <a:rPr lang="en-US" sz="1200" b="1" dirty="0"/>
              <a:t>Cosine distance</a:t>
            </a:r>
            <a:r>
              <a:rPr lang="en-US" sz="1200" dirty="0"/>
              <a:t> </a:t>
            </a:r>
            <a:r>
              <a:rPr lang="en-US" sz="1200" dirty="0" err="1"/>
              <a:t>patrzy</a:t>
            </a:r>
            <a:r>
              <a:rPr lang="en-US" sz="1200" dirty="0"/>
              <a:t> </a:t>
            </a:r>
            <a:r>
              <a:rPr lang="en-US" sz="1200" dirty="0" err="1"/>
              <a:t>przede</a:t>
            </a:r>
            <a:r>
              <a:rPr lang="en-US" sz="1200" dirty="0"/>
              <a:t> </a:t>
            </a:r>
            <a:r>
              <a:rPr lang="en-US" sz="1200" dirty="0" err="1"/>
              <a:t>wszystkim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b="1" dirty="0" err="1"/>
              <a:t>kąt</a:t>
            </a:r>
            <a:r>
              <a:rPr lang="en-US" sz="1200" b="1" dirty="0"/>
              <a:t> </a:t>
            </a:r>
            <a:r>
              <a:rPr lang="en-US" sz="1200" b="1" dirty="0" err="1"/>
              <a:t>między</a:t>
            </a:r>
            <a:r>
              <a:rPr lang="en-US" sz="1200" b="1" dirty="0"/>
              <a:t> </a:t>
            </a:r>
            <a:r>
              <a:rPr lang="en-US" sz="1200" b="1" dirty="0" err="1"/>
              <a:t>wektorami</a:t>
            </a:r>
            <a:r>
              <a:rPr lang="en-US" sz="1200" dirty="0"/>
              <a:t>, a </a:t>
            </a:r>
            <a:r>
              <a:rPr lang="en-US" sz="1200" dirty="0" err="1"/>
              <a:t>nie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ich </a:t>
            </a:r>
            <a:r>
              <a:rPr lang="en-US" sz="1200" dirty="0" err="1"/>
              <a:t>długość</a:t>
            </a:r>
            <a:endParaRPr lang="pl-PL" sz="1200" dirty="0"/>
          </a:p>
          <a:p>
            <a:endParaRPr lang="pl-PL" sz="1200" dirty="0"/>
          </a:p>
          <a:p>
            <a:r>
              <a:rPr lang="en-US" sz="1200" b="1" dirty="0"/>
              <a:t>Negative inner product</a:t>
            </a:r>
            <a:r>
              <a:rPr lang="en-US" sz="1200" dirty="0"/>
              <a:t> to </a:t>
            </a:r>
            <a:r>
              <a:rPr lang="en-US" sz="1200" dirty="0" err="1"/>
              <a:t>ujemny</a:t>
            </a:r>
            <a:r>
              <a:rPr lang="en-US" sz="1200" dirty="0"/>
              <a:t> </a:t>
            </a:r>
            <a:r>
              <a:rPr lang="en-US" sz="1200" b="1" dirty="0" err="1"/>
              <a:t>iloczyn</a:t>
            </a:r>
            <a:r>
              <a:rPr lang="en-US" sz="1200" b="1" dirty="0"/>
              <a:t> </a:t>
            </a:r>
            <a:r>
              <a:rPr lang="en-US" sz="1200" b="1" dirty="0" err="1"/>
              <a:t>skalarny</a:t>
            </a:r>
            <a:r>
              <a:rPr lang="en-US" sz="1200" dirty="0"/>
              <a:t> </a:t>
            </a:r>
            <a:r>
              <a:rPr lang="en-US" sz="1200" dirty="0" err="1"/>
              <a:t>dwóch</a:t>
            </a:r>
            <a:r>
              <a:rPr lang="en-US" sz="1200" dirty="0"/>
              <a:t> </a:t>
            </a:r>
            <a:r>
              <a:rPr lang="en-US" sz="1200" dirty="0" err="1"/>
              <a:t>wektorów</a:t>
            </a:r>
            <a:r>
              <a:rPr lang="en-US" sz="1200" dirty="0"/>
              <a:t>. W </a:t>
            </a:r>
            <a:r>
              <a:rPr lang="en-US" sz="1200" dirty="0" err="1"/>
              <a:t>pgvector</a:t>
            </a:r>
            <a:r>
              <a:rPr lang="en-US" sz="1200" dirty="0"/>
              <a:t> jest </a:t>
            </a:r>
            <a:r>
              <a:rPr lang="en-US" sz="1200" dirty="0" err="1"/>
              <a:t>trzecią</a:t>
            </a:r>
            <a:r>
              <a:rPr lang="en-US" sz="1200" dirty="0"/>
              <a:t> </a:t>
            </a:r>
            <a:r>
              <a:rPr lang="en-US" sz="1200" dirty="0" err="1"/>
              <a:t>popularną</a:t>
            </a:r>
            <a:r>
              <a:rPr lang="en-US" sz="1200" dirty="0"/>
              <a:t> </a:t>
            </a:r>
            <a:r>
              <a:rPr lang="en-US" sz="1200" dirty="0" err="1"/>
              <a:t>miarą</a:t>
            </a:r>
            <a:r>
              <a:rPr lang="en-US" sz="1200" dirty="0"/>
              <a:t> </a:t>
            </a:r>
            <a:r>
              <a:rPr lang="en-US" sz="1200" dirty="0" err="1"/>
              <a:t>obok</a:t>
            </a:r>
            <a:r>
              <a:rPr lang="en-US" sz="1200" dirty="0"/>
              <a:t> Euclidean </a:t>
            </a:r>
            <a:r>
              <a:rPr lang="en-US" sz="1200" dirty="0" err="1"/>
              <a:t>i</a:t>
            </a:r>
            <a:r>
              <a:rPr lang="en-US" sz="1200" dirty="0"/>
              <a:t> cosine distance.</a:t>
            </a:r>
            <a:endParaRPr lang="pl-PL" sz="1200" dirty="0"/>
          </a:p>
          <a:p>
            <a:endParaRPr lang="pl-PL" sz="1200" dirty="0"/>
          </a:p>
          <a:p>
            <a:r>
              <a:rPr lang="en-US" sz="1200" dirty="0" err="1"/>
              <a:t>Przy</a:t>
            </a:r>
            <a:r>
              <a:rPr lang="en-US" sz="1200" dirty="0"/>
              <a:t> </a:t>
            </a:r>
            <a:r>
              <a:rPr lang="en-US" sz="1200" b="1" dirty="0" err="1"/>
              <a:t>znormalizowanych</a:t>
            </a:r>
            <a:r>
              <a:rPr lang="en-US" sz="1200" b="1" dirty="0"/>
              <a:t> </a:t>
            </a:r>
            <a:r>
              <a:rPr lang="en-US" sz="1200" b="1" dirty="0" err="1"/>
              <a:t>wektorach</a:t>
            </a:r>
            <a:r>
              <a:rPr lang="en-US" sz="1200" dirty="0"/>
              <a:t> ranking </a:t>
            </a:r>
            <a:r>
              <a:rPr lang="en-US" sz="1200" dirty="0" err="1"/>
              <a:t>według</a:t>
            </a:r>
            <a:r>
              <a:rPr lang="en-US" sz="1200" dirty="0"/>
              <a:t> cosine </a:t>
            </a:r>
            <a:r>
              <a:rPr lang="en-US" sz="1200" dirty="0" err="1"/>
              <a:t>i</a:t>
            </a:r>
            <a:r>
              <a:rPr lang="en-US" sz="1200" dirty="0"/>
              <a:t> Euclidean jest w </a:t>
            </a:r>
            <a:r>
              <a:rPr lang="en-US" sz="1200" dirty="0" err="1"/>
              <a:t>praktyce</a:t>
            </a:r>
            <a:r>
              <a:rPr lang="en-US" sz="1200" dirty="0"/>
              <a:t> </a:t>
            </a:r>
            <a:r>
              <a:rPr lang="en-US" sz="1200" dirty="0" err="1"/>
              <a:t>równoważny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 ZAPYTANIE, DWA SPOSOBY SZUKANIA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Praktyczny przykład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Zapytanie: „aplikacja ma za mało połączeń do bazy”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/ ILIKE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6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content ILIKE '%połączeń do bazy%'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 zależy od dokładnych słów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21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może zwrócić „Konfiguracja HikariCP”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4572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3401568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znaczenie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PRZYSPIESZENIE WYSZUKIWANIA ANN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HNSW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241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indeksu PostgreSQL porównuje zapytanie z każdym wektorem.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84048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6420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31136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98064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2139696"/>
            <a:ext cx="201168" cy="20116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9884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0" cy="219456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porównaj wszystkie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365760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468880"/>
            <a:ext cx="45720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0" y="2057400"/>
            <a:ext cx="82296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0" y="2468880"/>
            <a:ext cx="7315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509760" y="2057400"/>
            <a:ext cx="73152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1812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41080" y="2331720"/>
            <a:ext cx="256032" cy="25603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7260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2651760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przechodź po grafie podobnych punktów</a:t>
            </a:r>
            <a:endParaRPr lang="en-US" sz="1400" dirty="0"/>
          </a:p>
        </p:txBody>
      </p:sp>
      <p:grpSp>
        <p:nvGrpSpPr>
          <p:cNvPr id="31" name="Grupa 30">
            <a:extLst>
              <a:ext uri="{FF2B5EF4-FFF2-40B4-BE49-F238E27FC236}">
                <a16:creationId xmlns:a16="http://schemas.microsoft.com/office/drawing/2014/main" id="{09004ECF-1951-30B3-E1A5-EDB426EBCDDA}"/>
              </a:ext>
            </a:extLst>
          </p:cNvPr>
          <p:cNvGrpSpPr/>
          <p:nvPr/>
        </p:nvGrpSpPr>
        <p:grpSpPr>
          <a:xfrm>
            <a:off x="777240" y="3493008"/>
            <a:ext cx="10515600" cy="822959"/>
            <a:chOff x="868680" y="3977640"/>
            <a:chExt cx="10515600" cy="822959"/>
          </a:xfrm>
        </p:grpSpPr>
        <p:sp>
          <p:nvSpPr>
            <p:cNvPr id="27" name="Shape 25"/>
            <p:cNvSpPr/>
            <p:nvPr/>
          </p:nvSpPr>
          <p:spPr>
            <a:xfrm>
              <a:off x="868680" y="3977640"/>
              <a:ext cx="10515600" cy="822959"/>
            </a:xfrm>
            <a:prstGeom prst="roundRect">
              <a:avLst>
                <a:gd name="adj" fmla="val 10000"/>
              </a:avLst>
            </a:prstGeom>
            <a:solidFill>
              <a:srgbClr val="FFF1E8"/>
            </a:solidFill>
            <a:ln w="12700">
              <a:solidFill>
                <a:srgbClr val="E9713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43000" y="4279392"/>
              <a:ext cx="5669280" cy="25603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900" b="1" dirty="0">
                  <a:solidFill>
                    <a:srgbClr val="E971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HNSW = Hierarchical Navigable Small World</a:t>
              </a:r>
              <a:endParaRPr lang="en-US" sz="1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583680" y="429768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ANN: </a:t>
              </a:r>
              <a:r>
                <a:rPr lang="en-US" sz="1600" b="1" dirty="0" err="1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szybciej</a:t>
              </a:r>
              <a:r>
                <a:rPr lang="en-US" sz="1600" b="1" dirty="0">
                  <a:solidFill>
                    <a:srgbClr val="0E284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ale wynik jest przybliżony</a:t>
              </a:r>
              <a:endParaRPr lang="en-US" sz="1600" dirty="0"/>
            </a:p>
          </p:txBody>
        </p:sp>
      </p:grp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2" name="Dymek mowy: prostokąt z zaokrąglonymi rogami 31">
            <a:extLst>
              <a:ext uri="{FF2B5EF4-FFF2-40B4-BE49-F238E27FC236}">
                <a16:creationId xmlns:a16="http://schemas.microsoft.com/office/drawing/2014/main" id="{992BB57D-EB31-059D-4B3B-21C1BF9AFA5C}"/>
              </a:ext>
            </a:extLst>
          </p:cNvPr>
          <p:cNvSpPr/>
          <p:nvPr/>
        </p:nvSpPr>
        <p:spPr>
          <a:xfrm>
            <a:off x="1097280" y="4609321"/>
            <a:ext cx="3749040" cy="2015413"/>
          </a:xfrm>
          <a:prstGeom prst="wedgeRoundRectCallout">
            <a:avLst>
              <a:gd name="adj1" fmla="val -39903"/>
              <a:gd name="adj2" fmla="val -621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200" dirty="0"/>
              <a:t>Z</a:t>
            </a:r>
            <a:r>
              <a:rPr lang="en-US" sz="1200" dirty="0" err="1"/>
              <a:t>amiast</a:t>
            </a:r>
            <a:r>
              <a:rPr lang="en-US" sz="1200" dirty="0"/>
              <a:t> </a:t>
            </a:r>
            <a:r>
              <a:rPr lang="en-US" sz="1200" dirty="0" err="1"/>
              <a:t>porównywać</a:t>
            </a:r>
            <a:r>
              <a:rPr lang="en-US" sz="1200" dirty="0"/>
              <a:t> embedding </a:t>
            </a:r>
            <a:r>
              <a:rPr lang="en-US" sz="1200" dirty="0" err="1"/>
              <a:t>zapytania</a:t>
            </a:r>
            <a:r>
              <a:rPr lang="en-US" sz="1200" dirty="0"/>
              <a:t> ze </a:t>
            </a:r>
            <a:r>
              <a:rPr lang="en-US" sz="1200" b="1" dirty="0" err="1"/>
              <a:t>wszystkimi</a:t>
            </a:r>
            <a:r>
              <a:rPr lang="en-US" sz="1200" dirty="0"/>
              <a:t> </a:t>
            </a:r>
            <a:r>
              <a:rPr lang="en-US" sz="1200" dirty="0" err="1"/>
              <a:t>embeddingami</a:t>
            </a:r>
            <a:r>
              <a:rPr lang="en-US" sz="1200" dirty="0"/>
              <a:t> w </a:t>
            </a:r>
            <a:r>
              <a:rPr lang="en-US" sz="1200" dirty="0" err="1"/>
              <a:t>bazie</a:t>
            </a:r>
            <a:r>
              <a:rPr lang="en-US" sz="1200" dirty="0"/>
              <a:t>, HNSW </a:t>
            </a:r>
            <a:r>
              <a:rPr lang="en-US" sz="1200" dirty="0" err="1"/>
              <a:t>buduje</a:t>
            </a:r>
            <a:r>
              <a:rPr lang="en-US" sz="1200" dirty="0"/>
              <a:t> </a:t>
            </a:r>
            <a:r>
              <a:rPr lang="en-US" sz="1200" dirty="0" err="1"/>
              <a:t>graf</a:t>
            </a:r>
            <a:r>
              <a:rPr lang="en-US" sz="1200" dirty="0"/>
              <a:t>, po </a:t>
            </a:r>
            <a:r>
              <a:rPr lang="en-US" sz="1200" dirty="0" err="1"/>
              <a:t>którym</a:t>
            </a:r>
            <a:r>
              <a:rPr lang="en-US" sz="1200" dirty="0"/>
              <a:t> </a:t>
            </a:r>
            <a:r>
              <a:rPr lang="en-US" sz="1200" dirty="0" err="1"/>
              <a:t>można</a:t>
            </a:r>
            <a:r>
              <a:rPr lang="en-US" sz="1200" dirty="0"/>
              <a:t> </a:t>
            </a:r>
            <a:r>
              <a:rPr lang="en-US" sz="1200" dirty="0" err="1"/>
              <a:t>szybko</a:t>
            </a:r>
            <a:r>
              <a:rPr lang="en-US" sz="1200" dirty="0"/>
              <a:t> „</a:t>
            </a:r>
            <a:r>
              <a:rPr lang="en-US" sz="1200" dirty="0" err="1"/>
              <a:t>nawigować</a:t>
            </a:r>
            <a:r>
              <a:rPr lang="en-US" sz="1200" dirty="0"/>
              <a:t>” w </a:t>
            </a:r>
            <a:r>
              <a:rPr lang="en-US" sz="1200" dirty="0" err="1"/>
              <a:t>stronę</a:t>
            </a:r>
            <a:r>
              <a:rPr lang="en-US" sz="1200" dirty="0"/>
              <a:t> </a:t>
            </a:r>
            <a:r>
              <a:rPr lang="en-US" sz="1200" dirty="0" err="1"/>
              <a:t>najbardziej</a:t>
            </a:r>
            <a:r>
              <a:rPr lang="en-US" sz="1200" dirty="0"/>
              <a:t> </a:t>
            </a:r>
            <a:r>
              <a:rPr lang="en-US" sz="1200" dirty="0" err="1"/>
              <a:t>podobnych</a:t>
            </a:r>
            <a:r>
              <a:rPr lang="en-US" sz="1200" dirty="0"/>
              <a:t> </a:t>
            </a:r>
            <a:r>
              <a:rPr lang="en-US" sz="1200" dirty="0" err="1"/>
              <a:t>wektorów</a:t>
            </a:r>
            <a:r>
              <a:rPr lang="en-US" sz="1200" dirty="0"/>
              <a:t>.</a:t>
            </a:r>
            <a:endParaRPr lang="pl-PL" sz="1200" dirty="0"/>
          </a:p>
          <a:p>
            <a:endParaRPr lang="pl-PL" sz="1200" dirty="0"/>
          </a:p>
          <a:p>
            <a:r>
              <a:rPr lang="en-US" sz="1200" dirty="0" err="1"/>
              <a:t>Można</a:t>
            </a:r>
            <a:r>
              <a:rPr lang="en-US" sz="1200" dirty="0"/>
              <a:t> to </a:t>
            </a:r>
            <a:r>
              <a:rPr lang="en-US" sz="1200" dirty="0" err="1"/>
              <a:t>porównać</a:t>
            </a:r>
            <a:r>
              <a:rPr lang="en-US" sz="1200" dirty="0"/>
              <a:t> do </a:t>
            </a:r>
            <a:r>
              <a:rPr lang="en-US" sz="1200" dirty="0" err="1"/>
              <a:t>szukania</a:t>
            </a:r>
            <a:r>
              <a:rPr lang="en-US" sz="1200" dirty="0"/>
              <a:t> </a:t>
            </a:r>
            <a:r>
              <a:rPr lang="en-US" sz="1200" dirty="0" err="1"/>
              <a:t>adresu</a:t>
            </a:r>
            <a:r>
              <a:rPr lang="en-US" sz="1200" dirty="0"/>
              <a:t>:</a:t>
            </a:r>
          </a:p>
          <a:p>
            <a:r>
              <a:rPr lang="en-US" sz="1200" b="1" dirty="0" err="1"/>
              <a:t>kraj</a:t>
            </a:r>
            <a:r>
              <a:rPr lang="en-US" sz="1200" b="1" dirty="0"/>
              <a:t> → </a:t>
            </a:r>
            <a:r>
              <a:rPr lang="en-US" sz="1200" b="1" dirty="0" err="1"/>
              <a:t>miasto</a:t>
            </a:r>
            <a:r>
              <a:rPr lang="en-US" sz="1200" b="1" dirty="0"/>
              <a:t> → </a:t>
            </a:r>
            <a:r>
              <a:rPr lang="en-US" sz="1200" b="1" dirty="0" err="1"/>
              <a:t>dzielnica</a:t>
            </a:r>
            <a:r>
              <a:rPr lang="en-US" sz="1200" b="1" dirty="0"/>
              <a:t> → </a:t>
            </a:r>
            <a:r>
              <a:rPr lang="en-US" sz="1200" b="1" dirty="0" err="1"/>
              <a:t>ulica</a:t>
            </a:r>
            <a:r>
              <a:rPr lang="en-US" sz="1200" b="1" dirty="0"/>
              <a:t> → </a:t>
            </a:r>
            <a:r>
              <a:rPr lang="en-US" sz="1200" b="1" dirty="0" err="1"/>
              <a:t>budynek</a:t>
            </a:r>
            <a:endParaRPr lang="en-US" sz="1200" dirty="0"/>
          </a:p>
          <a:p>
            <a:r>
              <a:rPr lang="en-US" sz="1200" dirty="0" err="1"/>
              <a:t>zamiast</a:t>
            </a:r>
            <a:r>
              <a:rPr lang="en-US" sz="1200" dirty="0"/>
              <a:t> </a:t>
            </a:r>
            <a:r>
              <a:rPr lang="en-US" sz="1200" dirty="0" err="1"/>
              <a:t>sprawdzania</a:t>
            </a:r>
            <a:r>
              <a:rPr lang="en-US" sz="1200" dirty="0"/>
              <a:t> </a:t>
            </a:r>
            <a:r>
              <a:rPr lang="en-US" sz="1200" dirty="0" err="1"/>
              <a:t>każdego</a:t>
            </a:r>
            <a:r>
              <a:rPr lang="en-US" sz="1200" dirty="0"/>
              <a:t> </a:t>
            </a:r>
            <a:r>
              <a:rPr lang="en-US" sz="1200" dirty="0" err="1"/>
              <a:t>budynku</a:t>
            </a:r>
            <a:r>
              <a:rPr lang="en-US" sz="1200" dirty="0"/>
              <a:t> w </a:t>
            </a:r>
            <a:r>
              <a:rPr lang="en-US" sz="1200" dirty="0" err="1"/>
              <a:t>Polsce</a:t>
            </a:r>
            <a:r>
              <a:rPr lang="en-US" sz="1200" dirty="0"/>
              <a:t>.</a:t>
            </a:r>
          </a:p>
          <a:p>
            <a:endParaRPr lang="en-US" sz="1200" dirty="0"/>
          </a:p>
        </p:txBody>
      </p:sp>
      <p:sp>
        <p:nvSpPr>
          <p:cNvPr id="33" name="Dymek mowy: prostokąt z zaokrąglonymi rogami 32">
            <a:extLst>
              <a:ext uri="{FF2B5EF4-FFF2-40B4-BE49-F238E27FC236}">
                <a16:creationId xmlns:a16="http://schemas.microsoft.com/office/drawing/2014/main" id="{BACE2C7C-EBDA-15DA-B8EE-F011EAA14E28}"/>
              </a:ext>
            </a:extLst>
          </p:cNvPr>
          <p:cNvSpPr/>
          <p:nvPr/>
        </p:nvSpPr>
        <p:spPr>
          <a:xfrm>
            <a:off x="6848669" y="4609321"/>
            <a:ext cx="4444171" cy="2015414"/>
          </a:xfrm>
          <a:prstGeom prst="wedgeRoundRectCallout">
            <a:avLst>
              <a:gd name="adj1" fmla="val 1984"/>
              <a:gd name="adj2" fmla="val -6060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ANN </a:t>
            </a:r>
            <a:r>
              <a:rPr lang="pl-PL" sz="1200" dirty="0"/>
              <a:t>(</a:t>
            </a:r>
            <a:r>
              <a:rPr lang="en-US" sz="1200" dirty="0"/>
              <a:t>Approximate Nearest Neighbor</a:t>
            </a:r>
            <a:r>
              <a:rPr lang="pl-PL" sz="1200" dirty="0"/>
              <a:t>) </a:t>
            </a:r>
            <a:r>
              <a:rPr lang="en-US" sz="1200" dirty="0" err="1"/>
              <a:t>poświęca</a:t>
            </a:r>
            <a:r>
              <a:rPr lang="en-US" sz="1200" dirty="0"/>
              <a:t> </a:t>
            </a:r>
            <a:r>
              <a:rPr lang="en-US" sz="1200" dirty="0" err="1"/>
              <a:t>gwarancję</a:t>
            </a:r>
            <a:r>
              <a:rPr lang="en-US" sz="1200" dirty="0"/>
              <a:t> </a:t>
            </a:r>
            <a:r>
              <a:rPr lang="en-US" sz="1200" dirty="0" err="1"/>
              <a:t>znalezienia</a:t>
            </a:r>
            <a:r>
              <a:rPr lang="en-US" sz="1200" dirty="0"/>
              <a:t> </a:t>
            </a:r>
            <a:r>
              <a:rPr lang="en-US" sz="1200" dirty="0" err="1"/>
              <a:t>idealnego</a:t>
            </a:r>
            <a:r>
              <a:rPr lang="en-US" sz="1200" dirty="0"/>
              <a:t> </a:t>
            </a:r>
            <a:r>
              <a:rPr lang="en-US" sz="1200" dirty="0" err="1"/>
              <a:t>zestawu</a:t>
            </a:r>
            <a:r>
              <a:rPr lang="en-US" sz="1200" dirty="0"/>
              <a:t> </a:t>
            </a:r>
            <a:r>
              <a:rPr lang="en-US" sz="1200" dirty="0" err="1"/>
              <a:t>najbliższych</a:t>
            </a:r>
            <a:r>
              <a:rPr lang="en-US" sz="1200" dirty="0"/>
              <a:t> </a:t>
            </a:r>
            <a:r>
              <a:rPr lang="en-US" sz="1200" dirty="0" err="1"/>
              <a:t>wektorów</a:t>
            </a:r>
            <a:r>
              <a:rPr lang="en-US" sz="1200" dirty="0"/>
              <a:t> w </a:t>
            </a:r>
            <a:r>
              <a:rPr lang="en-US" sz="1200" dirty="0" err="1"/>
              <a:t>zamian</a:t>
            </a:r>
            <a:r>
              <a:rPr lang="en-US" sz="1200" dirty="0"/>
              <a:t> za </a:t>
            </a:r>
            <a:r>
              <a:rPr lang="en-US" sz="1200" dirty="0" err="1"/>
              <a:t>znacznie</a:t>
            </a:r>
            <a:r>
              <a:rPr lang="en-US" sz="1200" dirty="0"/>
              <a:t> </a:t>
            </a:r>
            <a:r>
              <a:rPr lang="en-US" sz="1200" dirty="0" err="1"/>
              <a:t>szybsze</a:t>
            </a:r>
            <a:r>
              <a:rPr lang="en-US" sz="1200" dirty="0"/>
              <a:t> </a:t>
            </a:r>
            <a:r>
              <a:rPr lang="en-US" sz="1200" dirty="0" err="1"/>
              <a:t>wyszukiwanie</a:t>
            </a:r>
            <a:r>
              <a:rPr lang="pl-PL" sz="1200" dirty="0"/>
              <a:t>.</a:t>
            </a:r>
          </a:p>
          <a:p>
            <a:endParaRPr lang="pl-PL" sz="1200" dirty="0"/>
          </a:p>
          <a:p>
            <a:r>
              <a:rPr lang="en-US" sz="1200" dirty="0" err="1"/>
              <a:t>Dlatego</a:t>
            </a:r>
            <a:r>
              <a:rPr lang="en-US" sz="1200" dirty="0"/>
              <a:t> „</a:t>
            </a:r>
            <a:r>
              <a:rPr lang="en-US" sz="1200" dirty="0" err="1"/>
              <a:t>przybliżony</a:t>
            </a:r>
            <a:r>
              <a:rPr lang="en-US" sz="1200" dirty="0"/>
              <a:t>” </a:t>
            </a:r>
            <a:r>
              <a:rPr lang="en-US" sz="1200" b="1" dirty="0" err="1"/>
              <a:t>nie</a:t>
            </a:r>
            <a:r>
              <a:rPr lang="en-US" sz="1200" b="1" dirty="0"/>
              <a:t> </a:t>
            </a:r>
            <a:r>
              <a:rPr lang="en-US" sz="1200" b="1" dirty="0" err="1"/>
              <a:t>oznacza</a:t>
            </a:r>
            <a:r>
              <a:rPr lang="en-US" sz="1200" b="1" dirty="0"/>
              <a:t>, </a:t>
            </a:r>
            <a:r>
              <a:rPr lang="en-US" sz="1200" b="1" dirty="0" err="1"/>
              <a:t>że</a:t>
            </a:r>
            <a:r>
              <a:rPr lang="en-US" sz="1200" b="1" dirty="0"/>
              <a:t> </a:t>
            </a:r>
            <a:r>
              <a:rPr lang="en-US" sz="1200" b="1" dirty="0" err="1"/>
              <a:t>pgvector</a:t>
            </a:r>
            <a:r>
              <a:rPr lang="en-US" sz="1200" b="1" dirty="0"/>
              <a:t> </a:t>
            </a:r>
            <a:r>
              <a:rPr lang="en-US" sz="1200" b="1" dirty="0" err="1"/>
              <a:t>zwraca</a:t>
            </a:r>
            <a:r>
              <a:rPr lang="en-US" sz="1200" b="1" dirty="0"/>
              <a:t> </a:t>
            </a:r>
            <a:r>
              <a:rPr lang="en-US" sz="1200" b="1" dirty="0" err="1"/>
              <a:t>przybliżoną</a:t>
            </a:r>
            <a:r>
              <a:rPr lang="en-US" sz="1200" b="1" dirty="0"/>
              <a:t> </a:t>
            </a:r>
            <a:r>
              <a:rPr lang="en-US" sz="1200" b="1" dirty="0" err="1"/>
              <a:t>wartość</a:t>
            </a:r>
            <a:r>
              <a:rPr lang="en-US" sz="1200" b="1" dirty="0"/>
              <a:t> </a:t>
            </a:r>
            <a:r>
              <a:rPr lang="en-US" sz="1200" b="1" dirty="0" err="1"/>
              <a:t>embeddingu</a:t>
            </a:r>
            <a:r>
              <a:rPr lang="en-US" sz="1200" b="1" dirty="0"/>
              <a:t> </a:t>
            </a:r>
            <a:r>
              <a:rPr lang="en-US" sz="1200" b="1" dirty="0" err="1"/>
              <a:t>czy</a:t>
            </a:r>
            <a:r>
              <a:rPr lang="en-US" sz="1200" b="1" dirty="0"/>
              <a:t> </a:t>
            </a:r>
            <a:r>
              <a:rPr lang="en-US" sz="1200" b="1" dirty="0" err="1"/>
              <a:t>odległości</a:t>
            </a:r>
            <a:r>
              <a:rPr lang="en-US" sz="1200" dirty="0"/>
              <a:t>. </a:t>
            </a:r>
            <a:r>
              <a:rPr lang="en-US" sz="1200" dirty="0" err="1"/>
              <a:t>Przybliżony</a:t>
            </a:r>
            <a:r>
              <a:rPr lang="en-US" sz="1200" dirty="0"/>
              <a:t> jest </a:t>
            </a:r>
            <a:r>
              <a:rPr lang="en-US" sz="1200" b="1" dirty="0" err="1"/>
              <a:t>proces</a:t>
            </a:r>
            <a:r>
              <a:rPr lang="en-US" sz="1200" b="1" dirty="0"/>
              <a:t> </a:t>
            </a:r>
            <a:r>
              <a:rPr lang="en-US" sz="1200" b="1" dirty="0" err="1"/>
              <a:t>wyboru</a:t>
            </a:r>
            <a:r>
              <a:rPr lang="en-US" sz="1200" b="1" dirty="0"/>
              <a:t> </a:t>
            </a:r>
            <a:r>
              <a:rPr lang="en-US" sz="1200" b="1" dirty="0" err="1"/>
              <a:t>kandydatów</a:t>
            </a:r>
            <a:r>
              <a:rPr lang="en-US" sz="1200" dirty="0"/>
              <a:t> — </a:t>
            </a:r>
            <a:r>
              <a:rPr lang="en-US" sz="1200" dirty="0" err="1"/>
              <a:t>algorytm</a:t>
            </a:r>
            <a:r>
              <a:rPr lang="en-US" sz="1200" dirty="0"/>
              <a:t> </a:t>
            </a:r>
            <a:r>
              <a:rPr lang="en-US" sz="1200" dirty="0" err="1"/>
              <a:t>może</a:t>
            </a:r>
            <a:r>
              <a:rPr lang="en-US" sz="1200" dirty="0"/>
              <a:t> </a:t>
            </a:r>
            <a:r>
              <a:rPr lang="en-US" sz="1200" dirty="0" err="1"/>
              <a:t>nie</a:t>
            </a:r>
            <a:r>
              <a:rPr lang="en-US" sz="1200" dirty="0"/>
              <a:t> </a:t>
            </a:r>
            <a:r>
              <a:rPr lang="en-US" sz="1200" dirty="0" err="1"/>
              <a:t>znaleźć</a:t>
            </a:r>
            <a:r>
              <a:rPr lang="en-US" sz="1200" dirty="0"/>
              <a:t> </a:t>
            </a:r>
            <a:r>
              <a:rPr lang="en-US" sz="1200" dirty="0" err="1"/>
              <a:t>wszystkich</a:t>
            </a:r>
            <a:r>
              <a:rPr lang="en-US" sz="1200" dirty="0"/>
              <a:t> </a:t>
            </a:r>
            <a:r>
              <a:rPr lang="en-US" sz="1200" dirty="0" err="1"/>
              <a:t>rzeczywiście</a:t>
            </a:r>
            <a:r>
              <a:rPr lang="en-US" sz="1200" dirty="0"/>
              <a:t> </a:t>
            </a:r>
            <a:r>
              <a:rPr lang="en-US" sz="1200" dirty="0" err="1"/>
              <a:t>najbliższych</a:t>
            </a:r>
            <a:r>
              <a:rPr lang="en-US" sz="1200" dirty="0"/>
              <a:t> </a:t>
            </a:r>
            <a:r>
              <a:rPr lang="en-US" sz="1200" dirty="0" err="1"/>
              <a:t>sąsiadów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KONFIGURACJA I KOMPROMIS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Indeks HNSW w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435608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article_embedding_hnsw_idx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article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hnsw (embedding vector_cosine_ops);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zmienia indeks?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spada przy dużych zbiorach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2587752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pamięć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indeks zajmuje miejsce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3118104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budowa kosztuje czas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48456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 może być przybliżony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554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pełne porównanie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precyzja &gt; koszt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/ HNSW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 podobieństwa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szybkość &gt; </a:t>
            </a:r>
            <a:r>
              <a:rPr lang="pl-PL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dokładność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71800" y="3977640"/>
            <a:ext cx="50292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Dobieramy indeks do skali i wymagań jakościowych, nie do samego faktu użycia embeddingów.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NAJWIĘKSZA PRZEWAGA JEDNEGO POSTGRESQL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Relacyjne filtry + vector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943600" cy="2926080"/>
          </a:xfrm>
          <a:prstGeom prst="roundRect">
            <a:avLst>
              <a:gd name="adj" fmla="val 25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435608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company_id = :companyId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status = 'PUBLISHED'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language = 'PL'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nadal jest SQL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780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company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2354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780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80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język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czas publikacji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Filtry domenowe i podobieństwo działają w jednym zapytaniu.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Mniej synchronizacji między systemami. Jeden punkt audytu i uprawnień.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WEKTOR NIE ZASTĘPUJE WSZYSTKIEGO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Text Search i hybrid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FTS wygrywa, gdy liczy się dokładne słowo. Wektor wygrywa, gdy liczy się sens.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73152" cy="9601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Text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lexemes / ranking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1874520"/>
            <a:ext cx="73152" cy="96012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599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/ distance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359152"/>
            <a:ext cx="1508760" cy="0"/>
          </a:xfrm>
          <a:prstGeom prst="line">
            <a:avLst/>
          </a:prstGeom>
          <a:noFill/>
          <a:ln w="27940">
            <a:solidFill>
              <a:srgbClr val="1560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 flipV="1">
            <a:off x="6949440" y="2359152"/>
            <a:ext cx="1572768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49240" y="1828800"/>
            <a:ext cx="1554480" cy="1078992"/>
          </a:xfrm>
          <a:prstGeom prst="roundRect">
            <a:avLst>
              <a:gd name="adj" fmla="val 10169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49240" y="1828800"/>
            <a:ext cx="73152" cy="107899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13832" y="1874520"/>
            <a:ext cx="131673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fusion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Przykłady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nazwa klasy, numer błędu, exact phrase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pytanie, parafraza, opis problemu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44805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41064" y="4590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0.4 * fts_rank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+ 0.6 * semantic_score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TREŚĆ I WEKTOR MUSZĄ IŚĆ RAZEM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Aktualizacja embeddingów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Zmiana `content` bez przeliczenia embeddingu tworzy niespójny rekord.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9385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article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content = :newContent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:id;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192024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192024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85232" y="1965960"/>
            <a:ext cx="140817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/ outbox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19202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6992" y="1965960"/>
            <a:ext cx="168249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worker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7552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698480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98480" y="192024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63072" y="1965960"/>
            <a:ext cx="6766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praktyce warto dodać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4389120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wersję modelu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864608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przeliczenia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248656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5157216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i idempotency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Regeneracja to proces danych, nie jednorazowa migracja.</a:t>
            </a:r>
            <a:endParaRPr lang="en-US" sz="2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DECYZJA ARCHITEKTONICZNA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Kiedy pgvector ma sens?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256032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pgvector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osobna vector DB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dane już żyją w PostgreSQL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bardzo duża skala wektorów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potrzebujesz filtrów SQL i relacji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wyszukiwanie jest głównym produktem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chcesz prostego deploymentu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potrzebujesz wyspecjalizowanych funkcji ANN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1417320"/>
            <a:ext cx="5349240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80760" y="1417320"/>
            <a:ext cx="5349240" cy="5029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Pytanie kontrolne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Czy osobny system wnosi wartość większą niż koszt operacyjny?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9784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może wyglądać jak zwykły SQL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0120" y="274320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98448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generuje embedding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8448" y="313639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przechowuje i porównuje wektory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146304" cy="146304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przyspiesza wyszukiwanie ANN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425196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98448" y="414223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relacyjne filtry zostają w PostgreSQL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98448" y="464515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 łączy słowa i znaczenie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1346</Words>
  <Application>Microsoft Office PowerPoint</Application>
  <PresentationFormat>Panoramiczny</PresentationFormat>
  <Paragraphs>273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Java developers meeting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Search w Javie: PostgreSQL + pgvector bez osobnej bazy wektorowej</dc:title>
  <dc:subject>Semantic Search w Javie: PostgreSQL + pgvector</dc:subject>
  <dc:creator>OpenAI</dc:creator>
  <cp:lastModifiedBy>Krzysztof Kozlowski</cp:lastModifiedBy>
  <cp:revision>22</cp:revision>
  <dcterms:created xsi:type="dcterms:W3CDTF">2026-09-29T07:08:08Z</dcterms:created>
  <dcterms:modified xsi:type="dcterms:W3CDTF">2026-09-29T19:05:22Z</dcterms:modified>
</cp:coreProperties>
</file>