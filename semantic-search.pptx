
<file path=[Content_Types].xml><?xml version="1.0" encoding="utf-8"?>
<Types xmlns="http://schemas.openxmlformats.org/package/2006/content-types">
  <Default Extension="org&amp;utm_campaign=index&amp;utm_content=thumbnail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1132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Temat: semantic search w Javie z PostgreSQL i pgvector.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446520"/>
            <a:ext cx="11338560" cy="0"/>
          </a:xfrm>
          <a:prstGeom prst="line">
            <a:avLst/>
          </a:prstGeom>
          <a:noFill/>
          <a:ln w="8890">
            <a:solidFill>
              <a:srgbClr val="D9E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80" dirty="0">
                <a:solidFill>
                  <a:srgbClr val="7F8C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/ SEMANTIC SEARCH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0698480" y="650138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7F8C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pgvector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86032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org&amp;utm_campaign=index&amp;utm_content=thumbnai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-548640"/>
            <a:ext cx="5303520" cy="5303520"/>
          </a:xfrm>
          <a:prstGeom prst="arc">
            <a:avLst/>
          </a:prstGeom>
          <a:noFill/>
          <a:ln w="25400">
            <a:solidFill>
              <a:srgbClr val="156082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686800" y="1005840"/>
            <a:ext cx="3840480" cy="3840480"/>
          </a:xfrm>
          <a:prstGeom prst="arc">
            <a:avLst/>
          </a:prstGeom>
          <a:noFill/>
          <a:ln w="16510">
            <a:solidFill>
              <a:srgbClr val="0F9ED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640080"/>
            <a:ext cx="91440" cy="1097280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713232"/>
            <a:ext cx="4389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CC3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SEMANTIC SEARCH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1207526"/>
            <a:ext cx="65836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Semantic Search w Javie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896112" y="2121408"/>
            <a:ext cx="7040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DCEA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+ pgvector bez osobnej bazy wektorowej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96112" y="2971800"/>
            <a:ext cx="6309360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pl-PL" sz="1300" dirty="0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Java, Spring </a:t>
            </a:r>
            <a:r>
              <a:rPr lang="pl-PL" sz="1300" dirty="0" err="1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Boot</a:t>
            </a:r>
            <a:r>
              <a:rPr lang="pl-PL" sz="1300" dirty="0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300" dirty="0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</a:t>
            </a:r>
            <a:r>
              <a:rPr lang="pl-PL" sz="1300" dirty="0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</a:t>
            </a:r>
            <a:r>
              <a:rPr lang="en-US" sz="1300" dirty="0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300" dirty="0" err="1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wyszukiwanie</a:t>
            </a:r>
            <a:r>
              <a:rPr lang="en-US" sz="1300" dirty="0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po znaczeniu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5989320"/>
            <a:ext cx="5303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buNone/>
            </a:pPr>
            <a:r>
              <a:rPr lang="pl-PL" sz="1400" dirty="0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Krzysztof Kozłowski</a:t>
            </a:r>
            <a:endParaRPr lang="en-US" sz="1400" dirty="0"/>
          </a:p>
        </p:txBody>
      </p:sp>
      <p:pic>
        <p:nvPicPr>
          <p:cNvPr id="11" name="Obraz 10" descr="File:Reply Logo.svg - Wikimedia Commons">
            <a:extLst>
              <a:ext uri="{FF2B5EF4-FFF2-40B4-BE49-F238E27FC236}">
                <a16:creationId xmlns:a16="http://schemas.microsoft.com/office/drawing/2014/main" id="{0915D1F2-DF35-6F60-AC93-567C3A574F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5020740"/>
            <a:ext cx="4390844" cy="11697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PUNKT WYJŚCIA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Pytanie, na które odpowiadamy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6675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Jak znaleźć dokument, gdy użytkownik używa innych słów niż autor?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03520" cy="2651760"/>
          </a:xfrm>
          <a:prstGeom prst="roundRect">
            <a:avLst>
              <a:gd name="adj" fmla="val 4138"/>
            </a:avLst>
          </a:prstGeom>
          <a:solidFill>
            <a:srgbClr val="F7F9FB"/>
          </a:solidFill>
          <a:ln w="12700">
            <a:solidFill>
              <a:srgbClr val="D9E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22860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Zapytanie użytkownika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761488"/>
            <a:ext cx="4389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„aplikacja ma za mało</a:t>
            </a:r>
            <a:endParaRPr lang="en-US" sz="2300" dirty="0"/>
          </a:p>
          <a:p>
            <a:pPr marL="0" indent="0" algn="l">
              <a:buNone/>
            </a:pPr>
            <a:r>
              <a:rPr lang="en-US" sz="23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połączeń do bazy”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355080" y="214884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7F9FB"/>
          </a:solidFill>
          <a:ln w="12700">
            <a:solidFill>
              <a:srgbClr val="D9E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29400" y="2423160"/>
            <a:ext cx="22860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Treść dokumentu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29400" y="2761488"/>
            <a:ext cx="4389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„Konfiguracja HikariCP</a:t>
            </a:r>
            <a:endParaRPr lang="en-US" sz="2300" dirty="0"/>
          </a:p>
          <a:p>
            <a:pPr marL="0" indent="0" algn="l">
              <a:buNone/>
            </a:pPr>
            <a:r>
              <a:rPr lang="en-US" sz="23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wyczerpanie puli”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952744" y="3429000"/>
            <a:ext cx="402336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76672" y="3548045"/>
            <a:ext cx="1554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znaczenie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107899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Semantic search ma rozpoznać, że te dwa teksty dotyczą tego samego problemu.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RÓŻNE SYGNAŁY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Keyword search vs semantic search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5156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Słowa znajdują dopasowanie. Embeddingi znajdują podobieństwo znaczenia.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2240280"/>
        </p:xfrm>
        <a:graphic>
          <a:graphicData uri="http://schemas.openxmlformats.org/drawingml/2006/table">
            <a:tbl>
              <a:tblPr/>
              <a:tblGrid>
                <a:gridCol w="5440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Keyword search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Semantic search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ILIKE / FTS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wektor + metryka odległości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„HikariCP” musi wystąpić w tekście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model wiąże „pula połączeń” z HikariCP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świetne dla nazw, kodów i fraz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dobre dla pytań i parafraz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1783080"/>
            <a:ext cx="5440680" cy="457200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80760" y="1783080"/>
            <a:ext cx="5440680" cy="4572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4892040"/>
            <a:ext cx="107899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Używaj razem, gdy liczy się i precyzja, i sens.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REPREZENTACJA ZNACZENIA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Embeddingi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80467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zamienia tekst na punkt w przestrzeni liczb.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2743200" cy="658368"/>
          </a:xfrm>
          <a:prstGeom prst="roundRect">
            <a:avLst>
              <a:gd name="adj" fmla="val 16667"/>
            </a:avLst>
          </a:prstGeom>
          <a:solidFill>
            <a:srgbClr val="E8F1F7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73152" cy="65836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1874520"/>
            <a:ext cx="250545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„HikariCP pool exhaustion”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2148840"/>
            <a:ext cx="73152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80560" y="1664208"/>
            <a:ext cx="1920240" cy="987552"/>
          </a:xfrm>
          <a:prstGeom prst="roundRect">
            <a:avLst>
              <a:gd name="adj" fmla="val 11111"/>
            </a:avLst>
          </a:prstGeom>
          <a:solidFill>
            <a:srgbClr val="FFF1E8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80560" y="1664208"/>
            <a:ext cx="73152" cy="987552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45152" y="1709928"/>
            <a:ext cx="1682496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embeddingowy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37960" y="2148840"/>
            <a:ext cx="68580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60920" y="1664208"/>
            <a:ext cx="2971800" cy="987552"/>
          </a:xfrm>
          <a:prstGeom prst="roundRect">
            <a:avLst>
              <a:gd name="adj" fmla="val 7407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07224" y="1773936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[0.021, -0.143,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0.761, …, 0.118]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154680"/>
            <a:ext cx="969264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Bliskie znaczenia są blisko siebie w przestrzeni wektorowej.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400" y="5029200"/>
            <a:ext cx="9966960" cy="0"/>
          </a:xfrm>
          <a:prstGeom prst="line">
            <a:avLst/>
          </a:prstGeom>
          <a:noFill/>
          <a:ln w="12700">
            <a:solidFill>
              <a:srgbClr val="D9E2F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11680" y="4160520"/>
            <a:ext cx="201168" cy="20116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09160" y="4434840"/>
            <a:ext cx="201168" cy="201168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883878" y="4450021"/>
            <a:ext cx="201168" cy="201168"/>
          </a:xfrm>
          <a:prstGeom prst="ellipse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363456" y="4197096"/>
            <a:ext cx="201168" cy="201168"/>
          </a:xfrm>
          <a:prstGeom prst="ellipse">
            <a:avLst/>
          </a:prstGeom>
          <a:solidFill>
            <a:srgbClr val="196B24"/>
          </a:solidFill>
          <a:ln w="12700">
            <a:solidFill>
              <a:srgbClr val="196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12848" y="4261104"/>
            <a:ext cx="2496312" cy="274320"/>
          </a:xfrm>
          <a:prstGeom prst="line">
            <a:avLst/>
          </a:prstGeom>
          <a:noFill/>
          <a:ln w="12700">
            <a:solidFill>
              <a:srgbClr val="15608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910327" y="4535424"/>
            <a:ext cx="1973551" cy="0"/>
          </a:xfrm>
          <a:prstGeom prst="line">
            <a:avLst/>
          </a:prstGeom>
          <a:noFill/>
          <a:ln w="12700">
            <a:solidFill>
              <a:srgbClr val="15608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37160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„connection pool”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4340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„brak połączeń”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92440" y="5257800"/>
            <a:ext cx="1371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„HikariCP”</a:t>
            </a:r>
            <a:endParaRPr lang="en-US" sz="10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8" name="Shape 20">
            <a:extLst>
              <a:ext uri="{FF2B5EF4-FFF2-40B4-BE49-F238E27FC236}">
                <a16:creationId xmlns:a16="http://schemas.microsoft.com/office/drawing/2014/main" id="{6E231396-9647-2F02-5181-81CCB19450E1}"/>
              </a:ext>
            </a:extLst>
          </p:cNvPr>
          <p:cNvSpPr/>
          <p:nvPr/>
        </p:nvSpPr>
        <p:spPr>
          <a:xfrm flipV="1">
            <a:off x="7105664" y="4337937"/>
            <a:ext cx="2257792" cy="201168"/>
          </a:xfrm>
          <a:prstGeom prst="line">
            <a:avLst/>
          </a:prstGeom>
          <a:noFill/>
          <a:ln w="12700">
            <a:solidFill>
              <a:srgbClr val="15608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TEKSTU DO WYNIKÓW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Architektura rozwiązania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6984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pgvector nie generuje embeddingów. Przechowuje, indeksuje i porównuje wektory.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73152" cy="9144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2103120"/>
            <a:ext cx="177393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tekst dokumentu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lub zapytanie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0" y="2514600"/>
            <a:ext cx="68580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11880" y="205740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FFF1E8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11880" y="2057400"/>
            <a:ext cx="73152" cy="914400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76472" y="2103120"/>
            <a:ext cx="15910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BGE-M3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serwis lokalny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532120" y="2514600"/>
            <a:ext cx="68580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0" y="2057400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5EA"/>
          </a:solidFill>
          <a:ln w="12700">
            <a:solidFill>
              <a:srgbClr val="196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0" y="2057400"/>
            <a:ext cx="73152" cy="914400"/>
          </a:xfrm>
          <a:prstGeom prst="rect">
            <a:avLst/>
          </a:prstGeom>
          <a:solidFill>
            <a:srgbClr val="196B24"/>
          </a:solidFill>
          <a:ln w="12700">
            <a:solidFill>
              <a:srgbClr val="196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65392" y="2103120"/>
            <a:ext cx="13624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float[]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2514600"/>
            <a:ext cx="68580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006840" y="205740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006840" y="2057400"/>
            <a:ext cx="73152" cy="9144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71432" y="2103120"/>
            <a:ext cx="195681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pgvector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886200"/>
            <a:ext cx="6400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spina te elementy w jeden przepływ aplikacyjny.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1520" y="448056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77824" y="459028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/search?q=problem+z+pulą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↓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EmbeddingService → SQL → top K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0" y="4480560"/>
            <a:ext cx="4572000" cy="1143000"/>
          </a:xfrm>
          <a:prstGeom prst="roundRect">
            <a:avLst>
              <a:gd name="adj" fmla="val 6400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47104" y="4590288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article(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 TEXT,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content TEXT,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embedding VECTOR(1024)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MINIMALNA KONFIGURACJA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PostgreSQL + pgvector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5669280" cy="3474720"/>
          </a:xfrm>
          <a:prstGeom prst="roundRect">
            <a:avLst>
              <a:gd name="adj" fmla="val 2105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77824" y="1527048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EXTENSION IF NOT EXISTS vector;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article (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       BIGSERIAL PRIMARY KEY,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     TEXT NOT NULL,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  TEXT NOT NULL,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category  TEXT NOT NULL,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embedding VECTOR(1024)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1228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 dostajemy w jednym modelu danych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0" y="2148840"/>
            <a:ext cx="164592" cy="164592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78040" y="2039112"/>
            <a:ext cx="3977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tekst i relacje w PostgreSQL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0" y="2770632"/>
            <a:ext cx="164592" cy="164592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78040" y="2660904"/>
            <a:ext cx="3977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kolumna wektorowa obok danych domenowych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0" y="3392424"/>
            <a:ext cx="164592" cy="164592"/>
          </a:xfrm>
          <a:prstGeom prst="ellipse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78040" y="3282696"/>
            <a:ext cx="3977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do filtrowania i rankingu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0" y="4014216"/>
            <a:ext cx="164592" cy="164592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78040" y="3904488"/>
            <a:ext cx="3977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jeden backup, monitoring i deployment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12280" y="5074920"/>
            <a:ext cx="43891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Wymiar VECTOR(1024) musi odpowiadać wymiarowi modelu.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WARSTWA APLIKACYJNA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Generowanie embeddingów w Javie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5156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Najważniejszy kontrakt jest mały. Model można później wymienić.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6126480" cy="3886200"/>
          </a:xfrm>
          <a:prstGeom prst="roundRect">
            <a:avLst>
              <a:gd name="adj" fmla="val 1882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77824" y="1801368"/>
            <a:ext cx="5852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EmbeddingClient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float[] embed(String text);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@Service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ArticleService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Article save(Article a)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String input = a.title() + "\n" + a.content();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repository.save(a.withEmbedding(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embeddingClient.embed(input)));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0" y="173736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F7F9FB"/>
          </a:solidFill>
          <a:ln w="12700">
            <a:solidFill>
              <a:srgbClr val="D9E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635240" y="2011680"/>
            <a:ext cx="960120" cy="256032"/>
          </a:xfrm>
          <a:prstGeom prst="roundRect">
            <a:avLst>
              <a:gd name="adj" fmla="val 42857"/>
            </a:avLst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35240" y="2020824"/>
            <a:ext cx="9601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BGE-M3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635240" y="2423160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lokalny serwis</a:t>
            </a:r>
            <a:endParaRPr lang="en-US" sz="1800" dirty="0"/>
          </a:p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wielojęzyczny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635240" y="3977640"/>
            <a:ext cx="3383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Alternatywa: Spring AI, ONNX Runtime lub zewnętrzne API.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5166360"/>
            <a:ext cx="39319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prezentacji ważne jest rozdzielenie: model ≠ baza wektorowa.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WYSZUKIWANIE PO ODLEGŁOŚCI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Similarity search w SQL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6583680" cy="2377440"/>
          </a:xfrm>
          <a:prstGeom prst="roundRect">
            <a:avLst>
              <a:gd name="adj" fmla="val 3077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2104" y="1435608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id, title, content,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embedding &lt;=&gt; :query_embedding AS distance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article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category = :category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embedding &lt;=&gt; :query_embedding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5;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58952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Operatory pgvector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0" y="1874520"/>
            <a:ext cx="3566160" cy="457200"/>
          </a:xfrm>
          <a:prstGeom prst="roundRect">
            <a:avLst>
              <a:gd name="adj" fmla="val 24000"/>
            </a:avLst>
          </a:prstGeom>
          <a:solidFill>
            <a:srgbClr val="F7F9FB"/>
          </a:solidFill>
          <a:ln w="12700">
            <a:solidFill>
              <a:srgbClr val="D9E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818120" y="1938528"/>
            <a:ext cx="640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0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&lt;-&gt;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49640" y="1938528"/>
            <a:ext cx="2286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Euclidean distance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589520" y="2496312"/>
            <a:ext cx="3566160" cy="457200"/>
          </a:xfrm>
          <a:prstGeom prst="roundRect">
            <a:avLst>
              <a:gd name="adj" fmla="val 24000"/>
            </a:avLst>
          </a:prstGeom>
          <a:solidFill>
            <a:srgbClr val="F7F9FB"/>
          </a:solidFill>
          <a:ln w="12700">
            <a:solidFill>
              <a:srgbClr val="D9E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818120" y="2560320"/>
            <a:ext cx="640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0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&lt;#&gt;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49640" y="2560320"/>
            <a:ext cx="2286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inner product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589520" y="3118104"/>
            <a:ext cx="3566160" cy="457200"/>
          </a:xfrm>
          <a:prstGeom prst="roundRect">
            <a:avLst>
              <a:gd name="adj" fmla="val 24000"/>
            </a:avLst>
          </a:prstGeom>
          <a:solidFill>
            <a:srgbClr val="FFF1E8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3182112"/>
            <a:ext cx="640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971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&lt;=&gt;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49640" y="3182112"/>
            <a:ext cx="2286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cosine distance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800600"/>
            <a:ext cx="6400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Dla indeksu używamy tej samej metryki, co w zapytaniu.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JEDNO ZAPYTANIE, DWA SPOSOBY SZUKANIA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Praktyczny przykład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96012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Zapytanie: „aplikacja ma za mało połączeń do bazy”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5074920" cy="2560320"/>
          </a:xfrm>
          <a:prstGeom prst="roundRect">
            <a:avLst>
              <a:gd name="adj" fmla="val 4286"/>
            </a:avLst>
          </a:prstGeom>
          <a:solidFill>
            <a:srgbClr val="F7F9FB"/>
          </a:solidFill>
          <a:ln w="12700">
            <a:solidFill>
              <a:srgbClr val="D9E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Keyword / ILIKE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60120" y="2542032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06424" y="26517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content ILIKE '%połączeń do bazy%'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703320"/>
            <a:ext cx="4297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wynik zależy od dokładnych słów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5074920" cy="2560320"/>
          </a:xfrm>
          <a:prstGeom prst="roundRect">
            <a:avLst>
              <a:gd name="adj" fmla="val 4286"/>
            </a:avLst>
          </a:prstGeom>
          <a:solidFill>
            <a:srgbClr val="F7F9FB"/>
          </a:solidFill>
          <a:ln w="12700">
            <a:solidFill>
              <a:srgbClr val="D9E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75120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Semantic search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0" y="2542032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21424" y="26517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embedding &lt;=&gt; :q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3703320"/>
            <a:ext cx="4297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może zwrócić „Konfiguracja HikariCP”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52160" y="3063240"/>
            <a:ext cx="45720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49240" y="3401568"/>
            <a:ext cx="15544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znaczenie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5166360"/>
            <a:ext cx="108813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Najlepszy demo moment: to samo zapytanie użytkownika, inny ranking wyników.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PRZYSPIESZENIE WYSZUKIWANIA ANN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HNSW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2412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indeksu PostgreSQL porównuje zapytanie z każdym wektorem.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search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2240280"/>
            <a:ext cx="3840480" cy="0"/>
          </a:xfrm>
          <a:prstGeom prst="line">
            <a:avLst/>
          </a:prstGeom>
          <a:noFill/>
          <a:ln w="25400">
            <a:solidFill>
              <a:srgbClr val="D9E2F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97280" y="2139696"/>
            <a:ext cx="201168" cy="20116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64208" y="2139696"/>
            <a:ext cx="201168" cy="20116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31136" y="2139696"/>
            <a:ext cx="201168" cy="20116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98064" y="2139696"/>
            <a:ext cx="201168" cy="20116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64992" y="2139696"/>
            <a:ext cx="201168" cy="201168"/>
          </a:xfrm>
          <a:prstGeom prst="ellipse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931920" y="2139696"/>
            <a:ext cx="201168" cy="20116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98848" y="2139696"/>
            <a:ext cx="201168" cy="20116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1691640"/>
            <a:ext cx="731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920240"/>
            <a:ext cx="0" cy="219456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2651760"/>
            <a:ext cx="39319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porównaj wszystkie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1828800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HNSW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0" y="2468880"/>
            <a:ext cx="3657600" cy="0"/>
          </a:xfrm>
          <a:prstGeom prst="line">
            <a:avLst/>
          </a:prstGeom>
          <a:noFill/>
          <a:ln w="25400">
            <a:solidFill>
              <a:srgbClr val="D9E2F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498080" y="2468880"/>
            <a:ext cx="457200" cy="0"/>
          </a:xfrm>
          <a:prstGeom prst="line">
            <a:avLst/>
          </a:prstGeom>
          <a:noFill/>
          <a:ln w="19050">
            <a:solidFill>
              <a:srgbClr val="15608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955280" y="2057400"/>
            <a:ext cx="822960" cy="411480"/>
          </a:xfrm>
          <a:prstGeom prst="line">
            <a:avLst/>
          </a:prstGeom>
          <a:noFill/>
          <a:ln w="19050">
            <a:solidFill>
              <a:srgbClr val="15608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778240" y="2468880"/>
            <a:ext cx="731520" cy="0"/>
          </a:xfrm>
          <a:prstGeom prst="line">
            <a:avLst/>
          </a:prstGeom>
          <a:noFill/>
          <a:ln w="19050">
            <a:solidFill>
              <a:srgbClr val="15608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509760" y="2057400"/>
            <a:ext cx="731520" cy="411480"/>
          </a:xfrm>
          <a:prstGeom prst="line">
            <a:avLst/>
          </a:prstGeom>
          <a:noFill/>
          <a:ln w="19050">
            <a:solidFill>
              <a:srgbClr val="15608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818120" y="1920240"/>
            <a:ext cx="256032" cy="256032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641080" y="2331720"/>
            <a:ext cx="256032" cy="256032"/>
          </a:xfrm>
          <a:prstGeom prst="ellipse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372600" y="1920240"/>
            <a:ext cx="256032" cy="256032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0" y="2651760"/>
            <a:ext cx="47548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przechodź po grafie podobnych punktów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68680" y="3977640"/>
            <a:ext cx="10515600" cy="1097280"/>
          </a:xfrm>
          <a:prstGeom prst="roundRect">
            <a:avLst>
              <a:gd name="adj" fmla="val 10000"/>
            </a:avLst>
          </a:prstGeom>
          <a:solidFill>
            <a:srgbClr val="FFF1E8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143000" y="4279392"/>
            <a:ext cx="5669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HNSW = Hierarchical Navigable Small World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6583680" y="4297680"/>
            <a:ext cx="40233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ANN: szybciej, ale wynik jest przybliżony</a:t>
            </a:r>
            <a:endParaRPr lang="en-US" sz="16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KONFIGURACJA I KOMPROMIS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Indeks HNSW w pgvector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5852160" cy="1463040"/>
          </a:xfrm>
          <a:prstGeom prst="roundRect">
            <a:avLst>
              <a:gd name="adj" fmla="val 5000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77824" y="1435608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INDEX article_embedding_hnsw_idx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article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hnsw (embedding vector_cosine_ops);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08660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 zmienia indeks?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0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latencja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spada przy dużych zbiorach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0" y="2587752"/>
            <a:ext cx="9144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pamięć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2587752"/>
            <a:ext cx="27432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indeks zajmuje miejsce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32320" y="3118104"/>
            <a:ext cx="9144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3118104"/>
            <a:ext cx="27432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budowa kosztuje czas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0" y="3648456"/>
            <a:ext cx="9144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648456"/>
            <a:ext cx="27432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wynik może być przybliżony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383280"/>
            <a:ext cx="5852160" cy="1417320"/>
          </a:xfrm>
          <a:prstGeom prst="roundRect">
            <a:avLst>
              <a:gd name="adj" fmla="val 7742"/>
            </a:avLst>
          </a:prstGeom>
          <a:solidFill>
            <a:srgbClr val="E8F1F7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657600"/>
            <a:ext cx="15544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search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4005072"/>
            <a:ext cx="1828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pełne porównanie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precyzja &gt; koszt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49040" y="3657600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 / HNSW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749040" y="4005072"/>
            <a:ext cx="22860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 podobieństwa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szybkość &gt; exactness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971800" y="3977640"/>
            <a:ext cx="50292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5303520"/>
            <a:ext cx="105156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Dobieramy indeks do skali i wymagań jakościowych, nie do samego faktu użycia embeddingów.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NAJWIĘKSZA PRZEWAGA JEDNEGO POSTGRESQL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Relacyjne filtry + vector search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5943600" cy="2926080"/>
          </a:xfrm>
          <a:prstGeom prst="roundRect">
            <a:avLst>
              <a:gd name="adj" fmla="val 2500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77824" y="1435608"/>
            <a:ext cx="5669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id, title, content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article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company_id = :companyId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AND status = 'PUBLISHED'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AND language = 'PL'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embedding &lt;=&gt; :q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10;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nadal jest SQL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178040" y="2240280"/>
            <a:ext cx="1737360" cy="256032"/>
          </a:xfrm>
          <a:prstGeom prst="roundRect">
            <a:avLst>
              <a:gd name="adj" fmla="val 42857"/>
            </a:avLst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78040" y="2249424"/>
            <a:ext cx="17373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tenant / company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235440" y="2240280"/>
            <a:ext cx="1737360" cy="256032"/>
          </a:xfrm>
          <a:prstGeom prst="roundRect">
            <a:avLst>
              <a:gd name="adj" fmla="val 42857"/>
            </a:avLst>
          </a:prstGeom>
          <a:solidFill>
            <a:srgbClr val="196B24"/>
          </a:solidFill>
          <a:ln w="12700">
            <a:solidFill>
              <a:srgbClr val="196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235440" y="2249424"/>
            <a:ext cx="17373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178040" y="2834640"/>
            <a:ext cx="1737360" cy="256032"/>
          </a:xfrm>
          <a:prstGeom prst="roundRect">
            <a:avLst>
              <a:gd name="adj" fmla="val 42857"/>
            </a:avLst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78040" y="2843784"/>
            <a:ext cx="17373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język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235440" y="2834640"/>
            <a:ext cx="1737360" cy="256032"/>
          </a:xfrm>
          <a:prstGeom prst="roundRect">
            <a:avLst>
              <a:gd name="adj" fmla="val 42857"/>
            </a:avLst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235440" y="2843784"/>
            <a:ext cx="17373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czas publikacji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132320" y="3749040"/>
            <a:ext cx="42976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Filtry domenowe i podobieństwo działają w jednym zapytaniu.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31520" y="5166360"/>
            <a:ext cx="106070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Mniej synchronizacji między systemami. Jeden punkt audytu i uprawnień.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WEKTOR NIE ZASTĘPUJE WSZYSTKIEGO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Text Search i hybrid search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7899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FTS wygrywa, gdy liczy się dokładne słowo. Wektor wygrywa, gdy liczy się sens.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E8F1F7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22960" y="1874520"/>
            <a:ext cx="73152" cy="96012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87552" y="1920240"/>
            <a:ext cx="250545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Text Search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lexemes / ranking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595360" y="1874520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FFF1E8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595360" y="1874520"/>
            <a:ext cx="73152" cy="960120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759952" y="1920240"/>
            <a:ext cx="250545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 Search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 / distance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49040" y="2359152"/>
            <a:ext cx="1508760" cy="0"/>
          </a:xfrm>
          <a:prstGeom prst="line">
            <a:avLst/>
          </a:prstGeom>
          <a:noFill/>
          <a:ln w="27940">
            <a:solidFill>
              <a:srgbClr val="1560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 flipH="1" flipV="1">
            <a:off x="6949440" y="2359152"/>
            <a:ext cx="1572768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349240" y="1828800"/>
            <a:ext cx="1554480" cy="1078992"/>
          </a:xfrm>
          <a:prstGeom prst="roundRect">
            <a:avLst>
              <a:gd name="adj" fmla="val 10169"/>
            </a:avLst>
          </a:prstGeom>
          <a:solidFill>
            <a:srgbClr val="EAF5EA"/>
          </a:solidFill>
          <a:ln w="12700">
            <a:solidFill>
              <a:srgbClr val="196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349240" y="1828800"/>
            <a:ext cx="73152" cy="1078992"/>
          </a:xfrm>
          <a:prstGeom prst="rect">
            <a:avLst/>
          </a:prstGeom>
          <a:solidFill>
            <a:srgbClr val="196B24"/>
          </a:solidFill>
          <a:ln w="12700">
            <a:solidFill>
              <a:srgbClr val="196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513832" y="1874520"/>
            <a:ext cx="1316736" cy="9875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fusion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2900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Przykłady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3749040"/>
            <a:ext cx="34747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nazwa klasy, numer błędu, exact phrase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0" y="3749040"/>
            <a:ext cx="27432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pytanie, parafraza, opis problemu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94760" y="4480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941064" y="459028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final_score = 0.4 * fts_rank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+ 0.6 * semantic_score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TREŚĆ I WEKTOR MUSZĄ IŚĆ RAZEM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Aktualizacja embeddingów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7899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Zmiana `content` bez przeliczenia embeddingu tworzy niespójny rekord.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77824" y="193852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article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content = :newContent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id = :id;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2423160"/>
            <a:ext cx="68580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120640" y="192024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FF1E8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120640" y="1920240"/>
            <a:ext cx="73152" cy="914400"/>
          </a:xfrm>
          <a:prstGeom prst="rect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85232" y="1965960"/>
            <a:ext cx="140817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/ outbox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949440" y="2423160"/>
            <a:ext cx="68580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0" y="19202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72400" y="1920240"/>
            <a:ext cx="73152" cy="9144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36992" y="1965960"/>
            <a:ext cx="168249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 worker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2423160"/>
            <a:ext cx="685800" cy="0"/>
          </a:xfrm>
          <a:prstGeom prst="line">
            <a:avLst/>
          </a:prstGeom>
          <a:noFill/>
          <a:ln w="27940">
            <a:solidFill>
              <a:srgbClr val="E971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698480" y="1920240"/>
            <a:ext cx="914400" cy="914400"/>
          </a:xfrm>
          <a:prstGeom prst="roundRect">
            <a:avLst>
              <a:gd name="adj" fmla="val 12000"/>
            </a:avLst>
          </a:prstGeom>
          <a:solidFill>
            <a:srgbClr val="EAF5EA"/>
          </a:solidFill>
          <a:ln w="12700">
            <a:solidFill>
              <a:srgbClr val="196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698480" y="1920240"/>
            <a:ext cx="73152" cy="914400"/>
          </a:xfrm>
          <a:prstGeom prst="rect">
            <a:avLst/>
          </a:prstGeom>
          <a:solidFill>
            <a:srgbClr val="196B24"/>
          </a:solidFill>
          <a:ln w="12700">
            <a:solidFill>
              <a:srgbClr val="196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863072" y="1965960"/>
            <a:ext cx="676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3931920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praktyce warto dodać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4480560"/>
            <a:ext cx="128016" cy="128016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88720" y="4389120"/>
            <a:ext cx="2103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wersję modelu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14400" y="4864608"/>
            <a:ext cx="128016" cy="128016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8872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przeliczenia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14400" y="5248656"/>
            <a:ext cx="128016" cy="128016"/>
          </a:xfrm>
          <a:prstGeom prst="ellipse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88720" y="5157216"/>
            <a:ext cx="2103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i idempotency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0" y="4343400"/>
            <a:ext cx="51206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Regeneracja to proces danych, nie jednorazowa migracja.</a:t>
            </a:r>
            <a:endParaRPr lang="en-US" sz="20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DECYZJA ARCHITEKTONICZNA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Kiedy pgvector ma sens?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698480" cy="2834640"/>
        </p:xfrm>
        <a:graphic>
          <a:graphicData uri="http://schemas.openxmlformats.org/drawingml/2006/table">
            <a:tbl>
              <a:tblPr/>
              <a:tblGrid>
                <a:gridCol w="534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pgvector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osobna vector DB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dane już żyją w PostgreSQL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bardzo duża skala wektorów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potrzebujesz filtrów SQL i relacji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wyszukiwanie jest głównym produktem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chcesz prostego deploymentu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2313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potrzebujesz wyspecjalizowanych funkcji ANN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" y="1417320"/>
            <a:ext cx="5349240" cy="50292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080760" y="1417320"/>
            <a:ext cx="5349240" cy="502920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Pytanie kontrolne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5166360"/>
            <a:ext cx="105156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Czy osobny system wnosi wartość większą niż koszt operacyjny?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 POKAZAĆ NA ŻYWO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12648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demo na 10 minut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1325880"/>
            <a:ext cx="438912" cy="438912"/>
          </a:xfrm>
          <a:prstGeom prst="ellipse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426464"/>
            <a:ext cx="43891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00200" y="1380744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EXTENSION + tabela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88136" y="1783080"/>
            <a:ext cx="0" cy="329184"/>
          </a:xfrm>
          <a:prstGeom prst="line">
            <a:avLst/>
          </a:prstGeom>
          <a:noFill/>
          <a:ln w="19050">
            <a:solidFill>
              <a:srgbClr val="D9E2F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2112264"/>
            <a:ext cx="438912" cy="438912"/>
          </a:xfrm>
          <a:prstGeom prst="ellipse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212848"/>
            <a:ext cx="43891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2167128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zapis artykułu i embeddingu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88136" y="2569464"/>
            <a:ext cx="0" cy="329184"/>
          </a:xfrm>
          <a:prstGeom prst="line">
            <a:avLst/>
          </a:prstGeom>
          <a:noFill/>
          <a:ln w="19050">
            <a:solidFill>
              <a:srgbClr val="D9E2F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68680" y="2898648"/>
            <a:ext cx="438912" cy="438912"/>
          </a:xfrm>
          <a:prstGeom prst="ellipse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2999232"/>
            <a:ext cx="43891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2953512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zapytanie semantyczne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88136" y="3355848"/>
            <a:ext cx="0" cy="329184"/>
          </a:xfrm>
          <a:prstGeom prst="line">
            <a:avLst/>
          </a:prstGeom>
          <a:noFill/>
          <a:ln w="19050">
            <a:solidFill>
              <a:srgbClr val="D9E2F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68680" y="3685032"/>
            <a:ext cx="438912" cy="438912"/>
          </a:xfrm>
          <a:prstGeom prst="ellipse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785616"/>
            <a:ext cx="43891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00200" y="3739896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HNSW + EXPLAIN ANALYZE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88136" y="4142232"/>
            <a:ext cx="0" cy="329184"/>
          </a:xfrm>
          <a:prstGeom prst="line">
            <a:avLst/>
          </a:prstGeom>
          <a:noFill/>
          <a:ln w="19050">
            <a:solidFill>
              <a:srgbClr val="D9E2F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68680" y="4471416"/>
            <a:ext cx="438912" cy="438912"/>
          </a:xfrm>
          <a:prstGeom prst="ellipse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4572000"/>
            <a:ext cx="43891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 SQL + hybrid ranking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315200" y="1417320"/>
            <a:ext cx="3840480" cy="3429000"/>
          </a:xfrm>
          <a:prstGeom prst="roundRect">
            <a:avLst>
              <a:gd name="adj" fmla="val 3200"/>
            </a:avLst>
          </a:prstGeom>
          <a:solidFill>
            <a:srgbClr val="F7F9FB"/>
          </a:solidFill>
          <a:ln w="12700">
            <a:solidFill>
              <a:srgbClr val="D9E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635240" y="1783080"/>
            <a:ext cx="2926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Jedno pytanie testowe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3524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„aplikacja ma za mało</a:t>
            </a:r>
            <a:endParaRPr lang="en-US" sz="2200" dirty="0"/>
          </a:p>
          <a:p>
            <a:pPr marL="0" indent="0" algn="l">
              <a:buNone/>
            </a:pPr>
            <a:r>
              <a:rPr lang="en-US" sz="2200" b="1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połączeń do bazy”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635240" y="3246120"/>
            <a:ext cx="29718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Wynik powinien wskazać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22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HikariCP, nawet bez tej frazy.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35240" y="4251960"/>
            <a:ext cx="29260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971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spina całą opowieść.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1900" y="6473825"/>
            <a:ext cx="800100" cy="3000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7F8C9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CC3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PODSUMOWANIE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97840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Semantic search może wyglądać jak zwykły SQL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60120" y="2743200"/>
            <a:ext cx="146304" cy="14630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98448" y="2633472"/>
            <a:ext cx="71323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E8F1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generuje embedding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0120" y="3246120"/>
            <a:ext cx="146304" cy="14630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98448" y="3136392"/>
            <a:ext cx="71323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E8F1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pgvector przechowuje i porównuje wektory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60120" y="3749040"/>
            <a:ext cx="146304" cy="146304"/>
          </a:xfrm>
          <a:prstGeom prst="ellipse">
            <a:avLst/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98448" y="3639312"/>
            <a:ext cx="71323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E8F1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HNSW przyspiesza wyszukiwanie ANN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60120" y="4251960"/>
            <a:ext cx="146304" cy="14630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98448" y="4142232"/>
            <a:ext cx="71323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E8F1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relacyjne filtry zostają w PostgreSQL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60120" y="4754880"/>
            <a:ext cx="146304" cy="14630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98448" y="4645152"/>
            <a:ext cx="71323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E8F1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search łączy słowa i znaczenie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38160" y="5349240"/>
            <a:ext cx="3017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AFC9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+ PostgreSQL + pgvector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1103</Words>
  <Application>Microsoft Office PowerPoint</Application>
  <PresentationFormat>Panoramiczny</PresentationFormat>
  <Paragraphs>272</Paragraphs>
  <Slides>17</Slides>
  <Notes>17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Consolas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Java developers meeting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Semantic Search w Javie: PostgreSQL + pgvector bez osobnej bazy wektorowej</dc:title>
  <dc:subject>Semantic Search w Javie: PostgreSQL + pgvector</dc:subject>
  <dc:creator>OpenAI</dc:creator>
  <cp:lastModifiedBy>Krzysztof Kozlowski</cp:lastModifiedBy>
  <cp:revision>7</cp:revision>
  <dcterms:created xsi:type="dcterms:W3CDTF">2026-09-29T07:08:08Z</dcterms:created>
  <dcterms:modified xsi:type="dcterms:W3CDTF">2026-09-29T14:55:55Z</dcterms:modified>
</cp:coreProperties>
</file>